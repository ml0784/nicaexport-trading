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pieChart>
        <c:varyColors val="1"/>
        <c:ser>
          <c:idx val="0"/>
          <c:order val="0"/>
          <c:tx>
            <c:strRef>
              <c:f>Sheet1!$B$1</c:f>
              <c:strCache>
                <c:ptCount val="1"/>
                <c:pt idx="0">
                  <c:v>Operaciones</c:v>
                </c:pt>
              </c:strCache>
            </c:strRef>
          </c:tx>
          <c:spPr>
            <a:solidFill>
              <a:schemeClr val="accent1"/>
            </a:solidFill>
            <a:ln w="9525" cap="flat">
              <a:solidFill>
                <a:srgbClr val="F9F9F9"/>
              </a:solidFill>
              <a:prstDash val="solid"/>
              <a:round/>
            </a:ln>
            <a:effectLst/>
          </c:spPr>
          <c:dPt>
            <c:idx val="0"/>
            <c:bubble3D val="0"/>
            <c:spPr>
              <a:solidFill>
                <a:srgbClr val="B85042"/>
              </a:solidFill>
              <a:effectLst/>
            </c:spPr>
            <c:extLst>
              <c:ext xmlns:c16="http://schemas.microsoft.com/office/drawing/2014/chart" uri="{C3380CC4-5D6E-409C-BE32-E72D297353CC}">
                <c16:uniqueId val="{00000001-CADA-4D59-A4D9-932A715C1A39}"/>
              </c:ext>
            </c:extLst>
          </c:dPt>
          <c:dPt>
            <c:idx val="1"/>
            <c:bubble3D val="0"/>
            <c:spPr>
              <a:solidFill>
                <a:srgbClr val="A7BEAE"/>
              </a:solidFill>
              <a:effectLst/>
            </c:spPr>
            <c:extLst>
              <c:ext xmlns:c16="http://schemas.microsoft.com/office/drawing/2014/chart" uri="{C3380CC4-5D6E-409C-BE32-E72D297353CC}">
                <c16:uniqueId val="{00000003-CADA-4D59-A4D9-932A715C1A39}"/>
              </c:ext>
            </c:extLst>
          </c:dPt>
          <c:dPt>
            <c:idx val="2"/>
            <c:bubble3D val="0"/>
            <c:spPr>
              <a:solidFill>
                <a:srgbClr val="3B2F2A"/>
              </a:solidFill>
              <a:effectLst/>
            </c:spPr>
            <c:extLst>
              <c:ext xmlns:c16="http://schemas.microsoft.com/office/drawing/2014/chart" uri="{C3380CC4-5D6E-409C-BE32-E72D297353CC}">
                <c16:uniqueId val="{00000005-CADA-4D59-A4D9-932A715C1A39}"/>
              </c:ext>
            </c:extLst>
          </c:dPt>
          <c:dLbls>
            <c:dLbl>
              <c:idx val="0"/>
              <c:numFmt formatCode="0%"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ADA-4D59-A4D9-932A715C1A39}"/>
                </c:ext>
              </c:extLst>
            </c:dLbl>
            <c:dLbl>
              <c:idx val="1"/>
              <c:numFmt formatCode="0%"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ADA-4D59-A4D9-932A715C1A39}"/>
                </c:ext>
              </c:extLst>
            </c:dLbl>
            <c:dLbl>
              <c:idx val="2"/>
              <c:numFmt formatCode="0%"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ADA-4D59-A4D9-932A715C1A39}"/>
                </c:ext>
              </c:extLst>
            </c:dLbl>
            <c:numFmt formatCode="0%" sourceLinked="0"/>
            <c:spPr>
              <a:noFill/>
              <a:ln>
                <a:noFill/>
              </a:ln>
              <a:effectLst/>
            </c:spPr>
            <c:txPr>
              <a:bodyPr/>
              <a:lstStyle/>
              <a:p>
                <a:pPr>
                  <a:defRPr sz="1800" b="0" i="0" u="none" strike="noStrike">
                    <a:solidFill>
                      <a:srgbClr val="000000"/>
                    </a:solidFill>
                    <a:latin typeface="Arial"/>
                  </a:defRPr>
                </a:pPr>
                <a:endParaRPr lang="es-419"/>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Entregado</c:v>
                </c:pt>
                <c:pt idx="1">
                  <c:v>Embarcado</c:v>
                </c:pt>
                <c:pt idx="2">
                  <c:v>Pendiente</c:v>
                </c:pt>
              </c:strCache>
            </c:strRef>
          </c:cat>
          <c:val>
            <c:numRef>
              <c:f>Sheet1!$B$2:$B$4</c:f>
              <c:numCache>
                <c:formatCode>General</c:formatCode>
                <c:ptCount val="3"/>
                <c:pt idx="0">
                  <c:v>49</c:v>
                </c:pt>
                <c:pt idx="1">
                  <c:v>36</c:v>
                </c:pt>
                <c:pt idx="2">
                  <c:v>15</c:v>
                </c:pt>
              </c:numCache>
            </c:numRef>
          </c:val>
          <c:extLst>
            <c:ext xmlns:c16="http://schemas.microsoft.com/office/drawing/2014/chart" uri="{C3380CC4-5D6E-409C-BE32-E72D297353CC}">
              <c16:uniqueId val="{00000006-CADA-4D59-A4D9-932A715C1A3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Valor FOB</c:v>
                </c:pt>
              </c:strCache>
            </c:strRef>
          </c:tx>
          <c:spPr>
            <a:solidFill>
              <a:srgbClr val="B85042"/>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s-419"/>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EE.UU.</c:v>
                </c:pt>
                <c:pt idx="1">
                  <c:v>España</c:v>
                </c:pt>
                <c:pt idx="2">
                  <c:v>México</c:v>
                </c:pt>
                <c:pt idx="3">
                  <c:v>Guatemala</c:v>
                </c:pt>
                <c:pt idx="4">
                  <c:v>Costa Rica</c:v>
                </c:pt>
                <c:pt idx="5">
                  <c:v>El Salvador</c:v>
                </c:pt>
              </c:strCache>
            </c:strRef>
          </c:cat>
          <c:val>
            <c:numRef>
              <c:f>Sheet1!$B$2:$B$7</c:f>
              <c:numCache>
                <c:formatCode>General</c:formatCode>
                <c:ptCount val="6"/>
                <c:pt idx="0">
                  <c:v>168745</c:v>
                </c:pt>
                <c:pt idx="1">
                  <c:v>136328</c:v>
                </c:pt>
                <c:pt idx="2">
                  <c:v>120313</c:v>
                </c:pt>
                <c:pt idx="3">
                  <c:v>119335</c:v>
                </c:pt>
                <c:pt idx="4">
                  <c:v>113544</c:v>
                </c:pt>
                <c:pt idx="5">
                  <c:v>0</c:v>
                </c:pt>
              </c:numCache>
            </c:numRef>
          </c:val>
          <c:extLst>
            <c:ext xmlns:c16="http://schemas.microsoft.com/office/drawing/2014/chart" uri="{C3380CC4-5D6E-409C-BE32-E72D297353CC}">
              <c16:uniqueId val="{00000000-A2B9-4DDD-AECE-F6F8A1E0BE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320"/>
                </a:solidFill>
                <a:latin typeface="Arial"/>
              </a:defRPr>
            </a:pPr>
            <a:endParaRPr lang="es-419"/>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pieChart>
        <c:varyColors val="1"/>
        <c:ser>
          <c:idx val="0"/>
          <c:order val="0"/>
          <c:tx>
            <c:strRef>
              <c:f>Sheet1!$B$1</c:f>
              <c:strCache>
                <c:ptCount val="1"/>
                <c:pt idx="0">
                  <c:v>Región</c:v>
                </c:pt>
              </c:strCache>
            </c:strRef>
          </c:tx>
          <c:spPr>
            <a:solidFill>
              <a:schemeClr val="accent1"/>
            </a:solidFill>
            <a:ln w="9525" cap="flat">
              <a:solidFill>
                <a:srgbClr val="F9F9F9"/>
              </a:solidFill>
              <a:prstDash val="solid"/>
              <a:round/>
            </a:ln>
            <a:effectLst/>
          </c:spPr>
          <c:dPt>
            <c:idx val="0"/>
            <c:bubble3D val="0"/>
            <c:spPr>
              <a:solidFill>
                <a:srgbClr val="B85042"/>
              </a:solidFill>
              <a:effectLst/>
            </c:spPr>
            <c:extLst>
              <c:ext xmlns:c16="http://schemas.microsoft.com/office/drawing/2014/chart" uri="{C3380CC4-5D6E-409C-BE32-E72D297353CC}">
                <c16:uniqueId val="{00000001-6FCC-45E8-8C9E-C8F2AC38A7F7}"/>
              </c:ext>
            </c:extLst>
          </c:dPt>
          <c:dPt>
            <c:idx val="1"/>
            <c:bubble3D val="0"/>
            <c:spPr>
              <a:solidFill>
                <a:srgbClr val="A7BEAE"/>
              </a:solidFill>
              <a:effectLst/>
            </c:spPr>
            <c:extLst>
              <c:ext xmlns:c16="http://schemas.microsoft.com/office/drawing/2014/chart" uri="{C3380CC4-5D6E-409C-BE32-E72D297353CC}">
                <c16:uniqueId val="{00000003-6FCC-45E8-8C9E-C8F2AC38A7F7}"/>
              </c:ext>
            </c:extLst>
          </c:dPt>
          <c:dPt>
            <c:idx val="2"/>
            <c:bubble3D val="0"/>
            <c:spPr>
              <a:solidFill>
                <a:srgbClr val="3B2F2A"/>
              </a:solidFill>
              <a:effectLst/>
            </c:spPr>
            <c:extLst>
              <c:ext xmlns:c16="http://schemas.microsoft.com/office/drawing/2014/chart" uri="{C3380CC4-5D6E-409C-BE32-E72D297353CC}">
                <c16:uniqueId val="{00000005-6FCC-45E8-8C9E-C8F2AC38A7F7}"/>
              </c:ext>
            </c:extLst>
          </c:dPt>
          <c:dLbls>
            <c:dLbl>
              <c:idx val="0"/>
              <c:numFmt formatCode="0%" sourceLinked="0"/>
              <c:spPr/>
              <c:txPr>
                <a:bodyPr/>
                <a:lstStyle/>
                <a:p>
                  <a:pPr>
                    <a:defRPr sz="1100" b="0" i="0" u="none" strike="noStrike">
                      <a:solidFill>
                        <a:srgbClr val="FFFFFF"/>
                      </a:solidFill>
                      <a:latin typeface="Arial"/>
                    </a:defRPr>
                  </a:pPr>
                  <a:endParaRPr lang="es-419"/>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FCC-45E8-8C9E-C8F2AC38A7F7}"/>
                </c:ext>
              </c:extLst>
            </c:dLbl>
            <c:dLbl>
              <c:idx val="1"/>
              <c:numFmt formatCode="0%" sourceLinked="0"/>
              <c:spPr/>
              <c:txPr>
                <a:bodyPr/>
                <a:lstStyle/>
                <a:p>
                  <a:pPr>
                    <a:defRPr sz="1100" b="0" i="0" u="none" strike="noStrike">
                      <a:solidFill>
                        <a:srgbClr val="FFFFFF"/>
                      </a:solidFill>
                      <a:latin typeface="Arial"/>
                    </a:defRPr>
                  </a:pPr>
                  <a:endParaRPr lang="es-419"/>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FCC-45E8-8C9E-C8F2AC38A7F7}"/>
                </c:ext>
              </c:extLst>
            </c:dLbl>
            <c:dLbl>
              <c:idx val="2"/>
              <c:numFmt formatCode="0%" sourceLinked="0"/>
              <c:spPr/>
              <c:txPr>
                <a:bodyPr/>
                <a:lstStyle/>
                <a:p>
                  <a:pPr>
                    <a:defRPr sz="1100" b="0" i="0" u="none" strike="noStrike">
                      <a:solidFill>
                        <a:srgbClr val="FFFFFF"/>
                      </a:solidFill>
                      <a:latin typeface="Arial"/>
                    </a:defRPr>
                  </a:pPr>
                  <a:endParaRPr lang="es-419"/>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FCC-45E8-8C9E-C8F2AC38A7F7}"/>
                </c:ext>
              </c:extLst>
            </c:dLbl>
            <c:numFmt formatCode="0%" sourceLinked="0"/>
            <c:spPr>
              <a:noFill/>
              <a:ln>
                <a:noFill/>
              </a:ln>
              <a:effectLst/>
            </c:spPr>
            <c:txPr>
              <a:bodyPr/>
              <a:lstStyle/>
              <a:p>
                <a:pPr>
                  <a:defRPr sz="1800" b="0" i="0" u="none" strike="noStrike">
                    <a:solidFill>
                      <a:srgbClr val="000000"/>
                    </a:solidFill>
                    <a:latin typeface="Arial"/>
                  </a:defRPr>
                </a:pPr>
                <a:endParaRPr lang="es-419"/>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Norteamérica</c:v>
                </c:pt>
                <c:pt idx="1">
                  <c:v>Centroamérica</c:v>
                </c:pt>
                <c:pt idx="2">
                  <c:v>Europa</c:v>
                </c:pt>
              </c:strCache>
            </c:strRef>
          </c:cat>
          <c:val>
            <c:numRef>
              <c:f>Sheet1!$B$2:$B$4</c:f>
              <c:numCache>
                <c:formatCode>General</c:formatCode>
                <c:ptCount val="3"/>
                <c:pt idx="0">
                  <c:v>289058</c:v>
                </c:pt>
                <c:pt idx="1">
                  <c:v>232879</c:v>
                </c:pt>
                <c:pt idx="2">
                  <c:v>136328</c:v>
                </c:pt>
              </c:numCache>
            </c:numRef>
          </c:val>
          <c:extLst>
            <c:ext xmlns:c16="http://schemas.microsoft.com/office/drawing/2014/chart" uri="{C3380CC4-5D6E-409C-BE32-E72D297353CC}">
              <c16:uniqueId val="{00000006-6FCC-45E8-8C9E-C8F2AC38A7F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Utilidad</c:v>
                </c:pt>
              </c:strCache>
            </c:strRef>
          </c:tx>
          <c:spPr>
            <a:solidFill>
              <a:srgbClr val="A7BEAE"/>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s-419"/>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Café especial</c:v>
                </c:pt>
                <c:pt idx="1">
                  <c:v>Aceite de ajonjolí</c:v>
                </c:pt>
                <c:pt idx="2">
                  <c:v>Miel natural</c:v>
                </c:pt>
                <c:pt idx="3">
                  <c:v>Cacao en grano</c:v>
                </c:pt>
                <c:pt idx="4">
                  <c:v>Maní procesado</c:v>
                </c:pt>
              </c:strCache>
            </c:strRef>
          </c:cat>
          <c:val>
            <c:numRef>
              <c:f>Sheet1!$B$2:$B$6</c:f>
              <c:numCache>
                <c:formatCode>General</c:formatCode>
                <c:ptCount val="5"/>
                <c:pt idx="0">
                  <c:v>62832</c:v>
                </c:pt>
                <c:pt idx="1">
                  <c:v>42218</c:v>
                </c:pt>
                <c:pt idx="2">
                  <c:v>38688</c:v>
                </c:pt>
                <c:pt idx="3">
                  <c:v>36800</c:v>
                </c:pt>
                <c:pt idx="4">
                  <c:v>33534</c:v>
                </c:pt>
              </c:numCache>
            </c:numRef>
          </c:val>
          <c:extLst>
            <c:ext xmlns:c16="http://schemas.microsoft.com/office/drawing/2014/chart" uri="{C3380CC4-5D6E-409C-BE32-E72D297353CC}">
              <c16:uniqueId val="{00000000-3619-41A5-A8A1-7BBEDDA53A9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Unidades</c:v>
                </c:pt>
              </c:strCache>
            </c:strRef>
          </c:tx>
          <c:spPr>
            <a:solidFill>
              <a:srgbClr val="B85042"/>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s-419"/>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Café especial</c:v>
                </c:pt>
                <c:pt idx="1">
                  <c:v>Miel natural</c:v>
                </c:pt>
                <c:pt idx="2">
                  <c:v>Cacao en grano</c:v>
                </c:pt>
                <c:pt idx="3">
                  <c:v>Maní procesado</c:v>
                </c:pt>
                <c:pt idx="4">
                  <c:v>Aceite de ajonjolí</c:v>
                </c:pt>
              </c:strCache>
            </c:strRef>
          </c:cat>
          <c:val>
            <c:numRef>
              <c:f>Sheet1!$B$2:$B$6</c:f>
              <c:numCache>
                <c:formatCode>General</c:formatCode>
                <c:ptCount val="5"/>
                <c:pt idx="0">
                  <c:v>26180</c:v>
                </c:pt>
                <c:pt idx="1">
                  <c:v>24180</c:v>
                </c:pt>
                <c:pt idx="2">
                  <c:v>16000</c:v>
                </c:pt>
                <c:pt idx="3">
                  <c:v>14580</c:v>
                </c:pt>
                <c:pt idx="4">
                  <c:v>11110</c:v>
                </c:pt>
              </c:numCache>
            </c:numRef>
          </c:val>
          <c:extLst>
            <c:ext xmlns:c16="http://schemas.microsoft.com/office/drawing/2014/chart" uri="{C3380CC4-5D6E-409C-BE32-E72D297353CC}">
              <c16:uniqueId val="{00000000-3098-4C9F-A990-4ADC2E5D45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Nº Operaciones</c:v>
                </c:pt>
              </c:strCache>
            </c:strRef>
          </c:tx>
          <c:spPr>
            <a:solidFill>
              <a:srgbClr val="B85042"/>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s-419"/>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Alta</c:v>
                </c:pt>
                <c:pt idx="1">
                  <c:v>Media</c:v>
                </c:pt>
                <c:pt idx="2">
                  <c:v>Baja</c:v>
                </c:pt>
              </c:strCache>
            </c:strRef>
          </c:cat>
          <c:val>
            <c:numRef>
              <c:f>Sheet1!$B$2:$B$4</c:f>
              <c:numCache>
                <c:formatCode>General</c:formatCode>
                <c:ptCount val="3"/>
                <c:pt idx="0">
                  <c:v>48</c:v>
                </c:pt>
                <c:pt idx="1">
                  <c:v>46</c:v>
                </c:pt>
                <c:pt idx="2">
                  <c:v>6</c:v>
                </c:pt>
              </c:numCache>
            </c:numRef>
          </c:val>
          <c:extLst>
            <c:ext xmlns:c16="http://schemas.microsoft.com/office/drawing/2014/chart" uri="{C3380CC4-5D6E-409C-BE32-E72D297353CC}">
              <c16:uniqueId val="{00000000-C137-460F-9AB6-BC57A00A04D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320"/>
                </a:solidFill>
                <a:latin typeface="Arial"/>
              </a:defRPr>
            </a:pPr>
            <a:endParaRPr lang="es-419"/>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2B2320"/>
                </a:solidFill>
                <a:latin typeface="Arial"/>
              </a:defRPr>
            </a:pPr>
            <a:endParaRPr lang="es-419"/>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pieChart>
        <c:varyColors val="1"/>
        <c:ser>
          <c:idx val="0"/>
          <c:order val="0"/>
          <c:tx>
            <c:strRef>
              <c:f>Sheet1!$B$1</c:f>
              <c:strCache>
                <c:ptCount val="1"/>
                <c:pt idx="0">
                  <c:v>Rentabilidad</c:v>
                </c:pt>
              </c:strCache>
            </c:strRef>
          </c:tx>
          <c:spPr>
            <a:solidFill>
              <a:schemeClr val="accent1"/>
            </a:solidFill>
            <a:ln w="9525" cap="flat">
              <a:solidFill>
                <a:srgbClr val="F9F9F9"/>
              </a:solidFill>
              <a:prstDash val="solid"/>
              <a:round/>
            </a:ln>
            <a:effectLst/>
          </c:spPr>
          <c:dPt>
            <c:idx val="0"/>
            <c:bubble3D val="0"/>
            <c:spPr>
              <a:solidFill>
                <a:srgbClr val="B85042"/>
              </a:solidFill>
              <a:effectLst/>
            </c:spPr>
            <c:extLst>
              <c:ext xmlns:c16="http://schemas.microsoft.com/office/drawing/2014/chart" uri="{C3380CC4-5D6E-409C-BE32-E72D297353CC}">
                <c16:uniqueId val="{00000001-D274-45B3-8B93-7D8E5530203C}"/>
              </c:ext>
            </c:extLst>
          </c:dPt>
          <c:dPt>
            <c:idx val="1"/>
            <c:bubble3D val="0"/>
            <c:spPr>
              <a:solidFill>
                <a:srgbClr val="A7BEAE"/>
              </a:solidFill>
              <a:effectLst/>
            </c:spPr>
            <c:extLst>
              <c:ext xmlns:c16="http://schemas.microsoft.com/office/drawing/2014/chart" uri="{C3380CC4-5D6E-409C-BE32-E72D297353CC}">
                <c16:uniqueId val="{00000003-D274-45B3-8B93-7D8E5530203C}"/>
              </c:ext>
            </c:extLst>
          </c:dPt>
          <c:dPt>
            <c:idx val="2"/>
            <c:bubble3D val="0"/>
            <c:spPr>
              <a:solidFill>
                <a:srgbClr val="3B2F2A"/>
              </a:solidFill>
              <a:effectLst/>
            </c:spPr>
            <c:extLst>
              <c:ext xmlns:c16="http://schemas.microsoft.com/office/drawing/2014/chart" uri="{C3380CC4-5D6E-409C-BE32-E72D297353CC}">
                <c16:uniqueId val="{00000005-D274-45B3-8B93-7D8E5530203C}"/>
              </c:ext>
            </c:extLst>
          </c:dPt>
          <c:dLbls>
            <c:dLbl>
              <c:idx val="0"/>
              <c:numFmt formatCode="General"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274-45B3-8B93-7D8E5530203C}"/>
                </c:ext>
              </c:extLst>
            </c:dLbl>
            <c:dLbl>
              <c:idx val="1"/>
              <c:numFmt formatCode="General"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274-45B3-8B93-7D8E5530203C}"/>
                </c:ext>
              </c:extLst>
            </c:dLbl>
            <c:dLbl>
              <c:idx val="2"/>
              <c:numFmt formatCode="General" sourceLinked="0"/>
              <c:spPr/>
              <c:txPr>
                <a:bodyPr/>
                <a:lstStyle/>
                <a:p>
                  <a:pPr>
                    <a:defRPr sz="1100" b="0" i="0" u="none" strike="noStrike">
                      <a:solidFill>
                        <a:srgbClr val="FFFFFF"/>
                      </a:solidFill>
                      <a:latin typeface="Arial"/>
                    </a:defRPr>
                  </a:pPr>
                  <a:endParaRPr lang="es-419"/>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274-45B3-8B93-7D8E5530203C}"/>
                </c:ext>
              </c:extLst>
            </c:dLbl>
            <c:numFmt formatCode="General" sourceLinked="0"/>
            <c:spPr>
              <a:noFill/>
              <a:ln>
                <a:noFill/>
              </a:ln>
              <a:effectLst/>
            </c:spPr>
            <c:txPr>
              <a:bodyPr/>
              <a:lstStyle/>
              <a:p>
                <a:pPr>
                  <a:defRPr sz="1800" b="0" i="0" u="none" strike="noStrike">
                    <a:solidFill>
                      <a:srgbClr val="000000"/>
                    </a:solidFill>
                    <a:latin typeface="Arial"/>
                  </a:defRPr>
                </a:pPr>
                <a:endParaRPr lang="es-419"/>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Alta (≥30%)</c:v>
                </c:pt>
                <c:pt idx="1">
                  <c:v>Media (15-29%)</c:v>
                </c:pt>
                <c:pt idx="2">
                  <c:v>Baja (&lt;15%)</c:v>
                </c:pt>
              </c:strCache>
            </c:strRef>
          </c:cat>
          <c:val>
            <c:numRef>
              <c:f>Sheet1!$B$2:$B$4</c:f>
              <c:numCache>
                <c:formatCode>General</c:formatCode>
                <c:ptCount val="3"/>
                <c:pt idx="0">
                  <c:v>82</c:v>
                </c:pt>
                <c:pt idx="1">
                  <c:v>18</c:v>
                </c:pt>
                <c:pt idx="2">
                  <c:v>0</c:v>
                </c:pt>
              </c:numCache>
            </c:numRef>
          </c:val>
          <c:extLst>
            <c:ext xmlns:c16="http://schemas.microsoft.com/office/drawing/2014/chart" uri="{C3380CC4-5D6E-409C-BE32-E72D297353CC}">
              <c16:uniqueId val="{00000006-D274-45B3-8B93-7D8E5530203C}"/>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848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gerencia. Presentar el objetivo del informe: convertir los datos de operaciones de exportación del primer semestre 2026 en información accionable para la toma de decisiones comerciales. Mencionar que el análisis fue elaborado individualmente utilizando Excel como herramienta de procesamiento de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empresa opera en seis mercados, pero que la información llega dispersa en tres archivos (operaciones, productos, mercados). El objetivo del análisis en Excel fue construir un solo modelo relacional con BUSCARV, funciones condicionales y tablas dinámicas para responder preguntas de negocio concretas.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100 operaciones registradas, la cartera está mayormente sana: 85% ya avanzó (entregado o embarcado) y el 82% logra rentabilidad alta. El punto de atención inmediato son las 15 operaciones pendientes, que se detallan más adelante.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EE.UU. es individualmente el país con mayor valor FOB. Sin embargo, a nivel de región, Norteamérica (EE.UU. + México) supera a Centroamérica y Europa combinadas en participación relativa, con 43.9% del valor FOB total. Destacar que El Salvador, clasificado como mercado potencial, no tuvo operaciones registradas en este semestre — una oportunidad de mercado no explotada.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café especial es el producto estrella: genera la mayor utilidad y el mayor volumen exportado, lo que lo convierte en la columna vertebral del portafolio. El aceite de ajonjolí llama la atención por lograr la segunda utilidad más alta con el menor volumen — su margen por unidad es el más atractivo del portafolio.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la mitad de las operaciones (48%) combina mercado estratégico y margen alto, lo que las hace prioritarias para la gerencia. Ninguna operación cae en rentabilidad baja, y el margen promedio general de 32.5% supera el umbral de 'alta rentabilidad' definido en la guía (30%). Norteamérica, Centroamérica y Europa muestran márgenes promedio muy parejos, entre 32% y 33%.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seis hallazgos resumen el análisis completo: quién compra más, qué producto es más rentable, qué región conviene priorizar, dónde hay riesgo operativo (pendientes) y dónde hay oportunidad sin explotar (El Salvador). Todos los números provienen directamente del archivo Excel analizado.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tres recomendaciones accionables y basadas en datos: enfocar café especial en EE.UU., resolver las 15 operaciones pendientes antes de que se conviertan en pérdidas de venta, y explorar activamente El Salvador, un mercado de bajo arancel que hoy está en cero. Estas tres acciones están directamente sustentadas en las cifras del análisis de Excel.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F2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B2F2A"/>
          </a:solidFill>
          <a:ln/>
        </p:spPr>
      </p:sp>
      <p:sp>
        <p:nvSpPr>
          <p:cNvPr id="3" name="Shape 1"/>
          <p:cNvSpPr/>
          <p:nvPr/>
        </p:nvSpPr>
        <p:spPr>
          <a:xfrm>
            <a:off x="0" y="5120640"/>
            <a:ext cx="12188952" cy="1737360"/>
          </a:xfrm>
          <a:prstGeom prst="rect">
            <a:avLst/>
          </a:prstGeom>
          <a:solidFill>
            <a:srgbClr val="B85042"/>
          </a:solidFill>
          <a:ln/>
        </p:spPr>
      </p:sp>
      <p:sp>
        <p:nvSpPr>
          <p:cNvPr id="4" name="Text 2"/>
          <p:cNvSpPr txBox="1"/>
          <p:nvPr/>
        </p:nvSpPr>
        <p:spPr>
          <a:xfrm>
            <a:off x="731520" y="1463040"/>
            <a:ext cx="10698480" cy="548640"/>
          </a:xfrm>
          <a:prstGeom prst="rect">
            <a:avLst/>
          </a:prstGeom>
          <a:noFill/>
          <a:ln/>
        </p:spPr>
        <p:txBody>
          <a:bodyPr wrap="square" rtlCol="0" anchor="ctr"/>
          <a:lstStyle/>
          <a:p>
            <a:pPr marL="0" indent="0">
              <a:buNone/>
            </a:pPr>
            <a:r>
              <a:rPr lang="en-US" sz="1800" kern="0" spc="200" dirty="0">
                <a:solidFill>
                  <a:srgbClr val="E7E8D1"/>
                </a:solidFill>
                <a:latin typeface="Calibri" pitchFamily="34" charset="0"/>
                <a:ea typeface="Calibri" pitchFamily="34" charset="-122"/>
                <a:cs typeface="Calibri" pitchFamily="34" charset="-120"/>
              </a:rPr>
              <a:t>NicaExport Trading, S.A.</a:t>
            </a:r>
            <a:endParaRPr lang="en-US" sz="1800" dirty="0"/>
          </a:p>
        </p:txBody>
      </p:sp>
      <p:sp>
        <p:nvSpPr>
          <p:cNvPr id="5" name="Text 3"/>
          <p:cNvSpPr txBox="1"/>
          <p:nvPr/>
        </p:nvSpPr>
        <p:spPr>
          <a:xfrm>
            <a:off x="731520" y="2011680"/>
            <a:ext cx="10698480" cy="182880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Análisis de Operaciones de</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Comercio Internacional</a:t>
            </a:r>
            <a:endParaRPr lang="en-US" sz="4000" dirty="0"/>
          </a:p>
        </p:txBody>
      </p:sp>
      <p:sp>
        <p:nvSpPr>
          <p:cNvPr id="6" name="Text 4"/>
          <p:cNvSpPr txBox="1"/>
          <p:nvPr/>
        </p:nvSpPr>
        <p:spPr>
          <a:xfrm>
            <a:off x="731520" y="3931920"/>
            <a:ext cx="10698480" cy="457200"/>
          </a:xfrm>
          <a:prstGeom prst="rect">
            <a:avLst/>
          </a:prstGeom>
          <a:noFill/>
          <a:ln/>
        </p:spPr>
        <p:txBody>
          <a:bodyPr wrap="square" rtlCol="0" anchor="ctr"/>
          <a:lstStyle/>
          <a:p>
            <a:pPr marL="0" indent="0">
              <a:buNone/>
            </a:pPr>
            <a:r>
              <a:rPr lang="en-US" sz="1600" i="1" dirty="0">
                <a:solidFill>
                  <a:srgbClr val="A7BEAE"/>
                </a:solidFill>
                <a:latin typeface="Calibri" pitchFamily="34" charset="0"/>
                <a:ea typeface="Calibri" pitchFamily="34" charset="-122"/>
                <a:cs typeface="Calibri" pitchFamily="34" charset="-120"/>
              </a:rPr>
              <a:t> </a:t>
            </a:r>
            <a:endParaRPr lang="en-US" sz="1600" dirty="0"/>
          </a:p>
        </p:txBody>
      </p:sp>
      <p:sp>
        <p:nvSpPr>
          <p:cNvPr id="7" name="Text 5"/>
          <p:cNvSpPr txBox="1"/>
          <p:nvPr/>
        </p:nvSpPr>
        <p:spPr>
          <a:xfrm>
            <a:off x="731520" y="5486400"/>
            <a:ext cx="731520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Elaborado por: Miriam Susana Lopez Rodriguez</a:t>
            </a:r>
            <a:endParaRPr lang="en-US" sz="1600" dirty="0"/>
          </a:p>
        </p:txBody>
      </p:sp>
      <p:sp>
        <p:nvSpPr>
          <p:cNvPr id="8" name="Text 6"/>
          <p:cNvSpPr txBox="1"/>
          <p:nvPr/>
        </p:nvSpPr>
        <p:spPr>
          <a:xfrm>
            <a:off x="731520" y="5943600"/>
            <a:ext cx="10058400" cy="4572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Negocios Internacionales / Tecnologías de Gestión de Información — Universidad Americana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Situación y Objetivo</a:t>
            </a:r>
            <a:endParaRPr lang="en-US" sz="3200" dirty="0"/>
          </a:p>
        </p:txBody>
      </p:sp>
      <p:sp>
        <p:nvSpPr>
          <p:cNvPr id="3" name="Shape 1"/>
          <p:cNvSpPr/>
          <p:nvPr/>
        </p:nvSpPr>
        <p:spPr>
          <a:xfrm>
            <a:off x="548640" y="1371600"/>
            <a:ext cx="5486400" cy="4846320"/>
          </a:xfrm>
          <a:prstGeom prst="rect">
            <a:avLst/>
          </a:prstGeom>
          <a:solidFill>
            <a:srgbClr val="E7E8D1"/>
          </a:solidFill>
          <a:ln w="12700">
            <a:solidFill>
              <a:srgbClr val="E7E8D1"/>
            </a:solidFill>
            <a:prstDash val="solid"/>
          </a:ln>
        </p:spPr>
      </p:sp>
      <p:sp>
        <p:nvSpPr>
          <p:cNvPr id="4" name="Text 2"/>
          <p:cNvSpPr txBox="1"/>
          <p:nvPr/>
        </p:nvSpPr>
        <p:spPr>
          <a:xfrm>
            <a:off x="822960" y="1554480"/>
            <a:ext cx="4937760" cy="457200"/>
          </a:xfrm>
          <a:prstGeom prst="rect">
            <a:avLst/>
          </a:prstGeom>
          <a:noFill/>
          <a:ln/>
        </p:spPr>
        <p:txBody>
          <a:bodyPr wrap="square"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Situación</a:t>
            </a:r>
            <a:endParaRPr lang="en-US" sz="2000" dirty="0"/>
          </a:p>
        </p:txBody>
      </p:sp>
      <p:sp>
        <p:nvSpPr>
          <p:cNvPr id="5" name="Text 3"/>
          <p:cNvSpPr txBox="1"/>
          <p:nvPr/>
        </p:nvSpPr>
        <p:spPr>
          <a:xfrm>
            <a:off x="822960" y="2103120"/>
            <a:ext cx="4937760" cy="3840480"/>
          </a:xfrm>
          <a:prstGeom prst="rect">
            <a:avLst/>
          </a:prstGeom>
          <a:noFill/>
          <a:ln/>
        </p:spPr>
        <p:txBody>
          <a:bodyPr wrap="square" rtlCol="0" anchor="ctr"/>
          <a:lstStyle/>
          <a:p>
            <a:pPr marL="342900" indent="-342900">
              <a:spcAft>
                <a:spcPts val="1000"/>
              </a:spcAft>
              <a:buSzPct val="100000"/>
              <a:buChar char="•"/>
            </a:pPr>
            <a:r>
              <a:rPr lang="en-US" sz="1400" dirty="0">
                <a:solidFill>
                  <a:srgbClr val="2B2320"/>
                </a:solidFill>
                <a:latin typeface="Calibri" pitchFamily="34" charset="0"/>
                <a:ea typeface="Calibri" pitchFamily="34" charset="-122"/>
                <a:cs typeface="Calibri" pitchFamily="34" charset="-120"/>
              </a:rPr>
              <a:t>NicaExport Trading, S.A. exportó productos agroindustriales durante el primer semestre de 2026 hacia EE.UU., México, Costa Rica, Guatemala, El Salvador y España.</a:t>
            </a:r>
            <a:endParaRPr lang="en-US" sz="1400" dirty="0"/>
          </a:p>
          <a:p>
            <a:pPr marL="342900" indent="-342900">
              <a:spcAft>
                <a:spcPts val="1000"/>
              </a:spcAft>
              <a:buSzPct val="100000"/>
              <a:buChar char="•"/>
            </a:pPr>
            <a:r>
              <a:rPr lang="en-US" sz="1400" dirty="0">
                <a:solidFill>
                  <a:srgbClr val="2B2320"/>
                </a:solidFill>
                <a:latin typeface="Calibri" pitchFamily="34" charset="0"/>
                <a:ea typeface="Calibri" pitchFamily="34" charset="-122"/>
                <a:cs typeface="Calibri" pitchFamily="34" charset="-120"/>
              </a:rPr>
              <a:t>Los datos de operaciones, productos y mercados están registrados de forma independiente y no permiten una lectura gerencial rápida.</a:t>
            </a:r>
            <a:endParaRPr lang="en-US" sz="1400" dirty="0"/>
          </a:p>
          <a:p>
            <a:pPr marL="342900" indent="-342900">
              <a:spcAft>
                <a:spcPts val="1000"/>
              </a:spcAft>
              <a:buSzPct val="100000"/>
              <a:buChar char="•"/>
            </a:pPr>
            <a:r>
              <a:rPr lang="en-US" sz="1400" dirty="0">
                <a:solidFill>
                  <a:srgbClr val="2B2320"/>
                </a:solidFill>
                <a:latin typeface="Calibri" pitchFamily="34" charset="0"/>
                <a:ea typeface="Calibri" pitchFamily="34" charset="-122"/>
                <a:cs typeface="Calibri" pitchFamily="34" charset="-120"/>
              </a:rPr>
              <a:t>Se requiere consolidar la información en un solo modelo analítico.</a:t>
            </a:r>
            <a:endParaRPr lang="en-US" sz="1400" dirty="0"/>
          </a:p>
        </p:txBody>
      </p:sp>
      <p:sp>
        <p:nvSpPr>
          <p:cNvPr id="6" name="Shape 4"/>
          <p:cNvSpPr/>
          <p:nvPr/>
        </p:nvSpPr>
        <p:spPr>
          <a:xfrm>
            <a:off x="6309360" y="1371600"/>
            <a:ext cx="5349240" cy="4846320"/>
          </a:xfrm>
          <a:prstGeom prst="rect">
            <a:avLst/>
          </a:prstGeom>
          <a:solidFill>
            <a:srgbClr val="B85042"/>
          </a:solidFill>
          <a:ln w="12700">
            <a:solidFill>
              <a:srgbClr val="B85042"/>
            </a:solidFill>
            <a:prstDash val="solid"/>
          </a:ln>
        </p:spPr>
      </p:sp>
      <p:sp>
        <p:nvSpPr>
          <p:cNvPr id="7" name="Text 5"/>
          <p:cNvSpPr txBox="1"/>
          <p:nvPr/>
        </p:nvSpPr>
        <p:spPr>
          <a:xfrm>
            <a:off x="6583680" y="1554480"/>
            <a:ext cx="484632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Objetivo del Análisis</a:t>
            </a:r>
            <a:endParaRPr lang="en-US" sz="2000" dirty="0"/>
          </a:p>
        </p:txBody>
      </p:sp>
      <p:sp>
        <p:nvSpPr>
          <p:cNvPr id="8" name="Text 6"/>
          <p:cNvSpPr txBox="1"/>
          <p:nvPr/>
        </p:nvSpPr>
        <p:spPr>
          <a:xfrm>
            <a:off x="6583680" y="2103120"/>
            <a:ext cx="4846320" cy="3840480"/>
          </a:xfrm>
          <a:prstGeom prst="rect">
            <a:avLst/>
          </a:prstGeom>
          <a:noFill/>
          <a:ln/>
        </p:spPr>
        <p:txBody>
          <a:bodyPr wrap="square" rtlCol="0" anchor="ctr"/>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Identificar los mercados y productos más relevantes por valor FOB y utilidad.</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Determinar el margen y la rentabilidad de cada operación.</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Clasificar las operaciones por prioridad comercial.</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Detectar operaciones pendientes que requieren atención.</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Entregar recomendaciones concretas a la gerencia.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Resumen de Operaciones</a:t>
            </a:r>
            <a:endParaRPr lang="en-US" sz="3200" dirty="0"/>
          </a:p>
        </p:txBody>
      </p:sp>
      <p:sp>
        <p:nvSpPr>
          <p:cNvPr id="3" name="Shape 1"/>
          <p:cNvSpPr/>
          <p:nvPr/>
        </p:nvSpPr>
        <p:spPr>
          <a:xfrm>
            <a:off x="548640" y="1463040"/>
            <a:ext cx="2606040" cy="1554480"/>
          </a:xfrm>
          <a:prstGeom prst="roundRect">
            <a:avLst>
              <a:gd name="adj" fmla="val 5882"/>
            </a:avLst>
          </a:prstGeom>
          <a:solidFill>
            <a:srgbClr val="E7E8D1"/>
          </a:solidFill>
          <a:ln w="12700">
            <a:solidFill>
              <a:srgbClr val="E7E8D1"/>
            </a:solidFill>
            <a:prstDash val="solid"/>
          </a:ln>
        </p:spPr>
      </p:sp>
      <p:sp>
        <p:nvSpPr>
          <p:cNvPr id="4" name="Text 2"/>
          <p:cNvSpPr txBox="1"/>
          <p:nvPr/>
        </p:nvSpPr>
        <p:spPr>
          <a:xfrm>
            <a:off x="548640" y="1554480"/>
            <a:ext cx="2606040" cy="914400"/>
          </a:xfrm>
          <a:prstGeom prst="rect">
            <a:avLst/>
          </a:prstGeom>
          <a:noFill/>
          <a:ln/>
        </p:spPr>
        <p:txBody>
          <a:bodyPr wrap="square"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100</a:t>
            </a:r>
            <a:endParaRPr lang="en-US" sz="4400" dirty="0"/>
          </a:p>
        </p:txBody>
      </p:sp>
      <p:sp>
        <p:nvSpPr>
          <p:cNvPr id="5" name="Text 3"/>
          <p:cNvSpPr txBox="1"/>
          <p:nvPr/>
        </p:nvSpPr>
        <p:spPr>
          <a:xfrm>
            <a:off x="548640" y="2514600"/>
            <a:ext cx="2606040" cy="457200"/>
          </a:xfrm>
          <a:prstGeom prst="rect">
            <a:avLst/>
          </a:prstGeom>
          <a:noFill/>
          <a:ln/>
        </p:spPr>
        <p:txBody>
          <a:bodyPr wrap="square" rtlCol="0" anchor="ctr"/>
          <a:lstStyle/>
          <a:p>
            <a:pPr marL="0" indent="0" algn="ctr">
              <a:buNone/>
            </a:pPr>
            <a:r>
              <a:rPr lang="en-US" sz="1300" dirty="0">
                <a:solidFill>
                  <a:srgbClr val="2B2320"/>
                </a:solidFill>
                <a:latin typeface="Calibri" pitchFamily="34" charset="0"/>
                <a:ea typeface="Calibri" pitchFamily="34" charset="-122"/>
                <a:cs typeface="Calibri" pitchFamily="34" charset="-120"/>
              </a:rPr>
              <a:t>Operaciones totales</a:t>
            </a:r>
            <a:endParaRPr lang="en-US" sz="1300" dirty="0"/>
          </a:p>
        </p:txBody>
      </p:sp>
      <p:sp>
        <p:nvSpPr>
          <p:cNvPr id="6" name="Shape 4"/>
          <p:cNvSpPr/>
          <p:nvPr/>
        </p:nvSpPr>
        <p:spPr>
          <a:xfrm>
            <a:off x="3337560" y="1463040"/>
            <a:ext cx="2606040" cy="1554480"/>
          </a:xfrm>
          <a:prstGeom prst="roundRect">
            <a:avLst>
              <a:gd name="adj" fmla="val 5882"/>
            </a:avLst>
          </a:prstGeom>
          <a:solidFill>
            <a:srgbClr val="E7E8D1"/>
          </a:solidFill>
          <a:ln w="12700">
            <a:solidFill>
              <a:srgbClr val="E7E8D1"/>
            </a:solidFill>
            <a:prstDash val="solid"/>
          </a:ln>
        </p:spPr>
      </p:sp>
      <p:sp>
        <p:nvSpPr>
          <p:cNvPr id="7" name="Text 5"/>
          <p:cNvSpPr txBox="1"/>
          <p:nvPr/>
        </p:nvSpPr>
        <p:spPr>
          <a:xfrm>
            <a:off x="3337560" y="1554480"/>
            <a:ext cx="2606040" cy="914400"/>
          </a:xfrm>
          <a:prstGeom prst="rect">
            <a:avLst/>
          </a:prstGeom>
          <a:noFill/>
          <a:ln/>
        </p:spPr>
        <p:txBody>
          <a:bodyPr wrap="square"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15</a:t>
            </a:r>
            <a:endParaRPr lang="en-US" sz="4400" dirty="0"/>
          </a:p>
        </p:txBody>
      </p:sp>
      <p:sp>
        <p:nvSpPr>
          <p:cNvPr id="8" name="Text 6"/>
          <p:cNvSpPr txBox="1"/>
          <p:nvPr/>
        </p:nvSpPr>
        <p:spPr>
          <a:xfrm>
            <a:off x="3337560" y="2514600"/>
            <a:ext cx="2606040" cy="457200"/>
          </a:xfrm>
          <a:prstGeom prst="rect">
            <a:avLst/>
          </a:prstGeom>
          <a:noFill/>
          <a:ln/>
        </p:spPr>
        <p:txBody>
          <a:bodyPr wrap="square" rtlCol="0" anchor="ctr"/>
          <a:lstStyle/>
          <a:p>
            <a:pPr marL="0" indent="0" algn="ctr">
              <a:buNone/>
            </a:pPr>
            <a:r>
              <a:rPr lang="en-US" sz="1300" dirty="0">
                <a:solidFill>
                  <a:srgbClr val="2B2320"/>
                </a:solidFill>
                <a:latin typeface="Calibri" pitchFamily="34" charset="0"/>
                <a:ea typeface="Calibri" pitchFamily="34" charset="-122"/>
                <a:cs typeface="Calibri" pitchFamily="34" charset="-120"/>
              </a:rPr>
              <a:t>Pendientes</a:t>
            </a:r>
            <a:endParaRPr lang="en-US" sz="1300" dirty="0"/>
          </a:p>
        </p:txBody>
      </p:sp>
      <p:sp>
        <p:nvSpPr>
          <p:cNvPr id="9" name="Shape 7"/>
          <p:cNvSpPr/>
          <p:nvPr/>
        </p:nvSpPr>
        <p:spPr>
          <a:xfrm>
            <a:off x="6126480" y="1463040"/>
            <a:ext cx="2606040" cy="1554480"/>
          </a:xfrm>
          <a:prstGeom prst="roundRect">
            <a:avLst>
              <a:gd name="adj" fmla="val 5882"/>
            </a:avLst>
          </a:prstGeom>
          <a:solidFill>
            <a:srgbClr val="E7E8D1"/>
          </a:solidFill>
          <a:ln w="12700">
            <a:solidFill>
              <a:srgbClr val="E7E8D1"/>
            </a:solidFill>
            <a:prstDash val="solid"/>
          </a:ln>
        </p:spPr>
      </p:sp>
      <p:sp>
        <p:nvSpPr>
          <p:cNvPr id="10" name="Text 8"/>
          <p:cNvSpPr txBox="1"/>
          <p:nvPr/>
        </p:nvSpPr>
        <p:spPr>
          <a:xfrm>
            <a:off x="6126480" y="1554480"/>
            <a:ext cx="2606040" cy="914400"/>
          </a:xfrm>
          <a:prstGeom prst="rect">
            <a:avLst/>
          </a:prstGeom>
          <a:noFill/>
          <a:ln/>
        </p:spPr>
        <p:txBody>
          <a:bodyPr wrap="square"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82</a:t>
            </a:r>
            <a:endParaRPr lang="en-US" sz="4400" dirty="0"/>
          </a:p>
        </p:txBody>
      </p:sp>
      <p:sp>
        <p:nvSpPr>
          <p:cNvPr id="11" name="Text 9"/>
          <p:cNvSpPr txBox="1"/>
          <p:nvPr/>
        </p:nvSpPr>
        <p:spPr>
          <a:xfrm>
            <a:off x="6126480" y="2514600"/>
            <a:ext cx="2606040" cy="457200"/>
          </a:xfrm>
          <a:prstGeom prst="rect">
            <a:avLst/>
          </a:prstGeom>
          <a:noFill/>
          <a:ln/>
        </p:spPr>
        <p:txBody>
          <a:bodyPr wrap="square" rtlCol="0" anchor="ctr"/>
          <a:lstStyle/>
          <a:p>
            <a:pPr marL="0" indent="0" algn="ctr">
              <a:buNone/>
            </a:pPr>
            <a:r>
              <a:rPr lang="en-US" sz="1300" dirty="0">
                <a:solidFill>
                  <a:srgbClr val="2B2320"/>
                </a:solidFill>
                <a:latin typeface="Calibri" pitchFamily="34" charset="0"/>
                <a:ea typeface="Calibri" pitchFamily="34" charset="-122"/>
                <a:cs typeface="Calibri" pitchFamily="34" charset="-120"/>
              </a:rPr>
              <a:t>Rentabilidad alta</a:t>
            </a:r>
            <a:endParaRPr lang="en-US" sz="1300" dirty="0"/>
          </a:p>
        </p:txBody>
      </p:sp>
      <p:sp>
        <p:nvSpPr>
          <p:cNvPr id="12" name="Shape 10"/>
          <p:cNvSpPr/>
          <p:nvPr/>
        </p:nvSpPr>
        <p:spPr>
          <a:xfrm>
            <a:off x="8915400" y="1463040"/>
            <a:ext cx="2606040" cy="1554480"/>
          </a:xfrm>
          <a:prstGeom prst="roundRect">
            <a:avLst>
              <a:gd name="adj" fmla="val 5882"/>
            </a:avLst>
          </a:prstGeom>
          <a:solidFill>
            <a:srgbClr val="E7E8D1"/>
          </a:solidFill>
          <a:ln w="12700">
            <a:solidFill>
              <a:srgbClr val="E7E8D1"/>
            </a:solidFill>
            <a:prstDash val="solid"/>
          </a:ln>
        </p:spPr>
      </p:sp>
      <p:sp>
        <p:nvSpPr>
          <p:cNvPr id="13" name="Text 11"/>
          <p:cNvSpPr txBox="1"/>
          <p:nvPr/>
        </p:nvSpPr>
        <p:spPr>
          <a:xfrm>
            <a:off x="8915400" y="1554480"/>
            <a:ext cx="2606040" cy="914400"/>
          </a:xfrm>
          <a:prstGeom prst="rect">
            <a:avLst/>
          </a:prstGeom>
          <a:noFill/>
          <a:ln/>
        </p:spPr>
        <p:txBody>
          <a:bodyPr wrap="square"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48</a:t>
            </a:r>
            <a:endParaRPr lang="en-US" sz="4400" dirty="0"/>
          </a:p>
        </p:txBody>
      </p:sp>
      <p:sp>
        <p:nvSpPr>
          <p:cNvPr id="14" name="Text 12"/>
          <p:cNvSpPr txBox="1"/>
          <p:nvPr/>
        </p:nvSpPr>
        <p:spPr>
          <a:xfrm>
            <a:off x="8915400" y="2514600"/>
            <a:ext cx="2606040" cy="457200"/>
          </a:xfrm>
          <a:prstGeom prst="rect">
            <a:avLst/>
          </a:prstGeom>
          <a:noFill/>
          <a:ln/>
        </p:spPr>
        <p:txBody>
          <a:bodyPr wrap="square" rtlCol="0" anchor="ctr"/>
          <a:lstStyle/>
          <a:p>
            <a:pPr marL="0" indent="0" algn="ctr">
              <a:buNone/>
            </a:pPr>
            <a:r>
              <a:rPr lang="en-US" sz="1300" dirty="0">
                <a:solidFill>
                  <a:srgbClr val="2B2320"/>
                </a:solidFill>
                <a:latin typeface="Calibri" pitchFamily="34" charset="0"/>
                <a:ea typeface="Calibri" pitchFamily="34" charset="-122"/>
                <a:cs typeface="Calibri" pitchFamily="34" charset="-120"/>
              </a:rPr>
              <a:t>Prioridad comercial alta</a:t>
            </a:r>
            <a:endParaRPr lang="en-US" sz="1300" dirty="0"/>
          </a:p>
        </p:txBody>
      </p:sp>
      <p:sp>
        <p:nvSpPr>
          <p:cNvPr id="15" name="Text 13"/>
          <p:cNvSpPr txBox="1"/>
          <p:nvPr/>
        </p:nvSpPr>
        <p:spPr>
          <a:xfrm>
            <a:off x="548640" y="3291840"/>
            <a:ext cx="5486400" cy="365760"/>
          </a:xfrm>
          <a:prstGeom prst="rect">
            <a:avLst/>
          </a:prstGeom>
          <a:noFill/>
          <a:ln/>
        </p:spPr>
        <p:txBody>
          <a:bodyPr wrap="square" rtlCol="0" anchor="ctr"/>
          <a:lstStyle/>
          <a:p>
            <a:pPr marL="0" indent="0">
              <a:buNone/>
            </a:pPr>
            <a:r>
              <a:rPr lang="en-US" sz="1600" b="1" dirty="0">
                <a:solidFill>
                  <a:srgbClr val="3B2F2A"/>
                </a:solidFill>
                <a:latin typeface="Cambria" pitchFamily="34" charset="0"/>
                <a:ea typeface="Cambria" pitchFamily="34" charset="-122"/>
                <a:cs typeface="Cambria" pitchFamily="34" charset="-120"/>
              </a:rPr>
              <a:t>Distribución de Operaciones por Estado</a:t>
            </a:r>
            <a:endParaRPr lang="en-US" sz="1600" dirty="0"/>
          </a:p>
        </p:txBody>
      </p:sp>
      <p:graphicFrame>
        <p:nvGraphicFramePr>
          <p:cNvPr id="16" name="Chart 0"/>
          <p:cNvGraphicFramePr/>
          <p:nvPr/>
        </p:nvGraphicFramePr>
        <p:xfrm>
          <a:off x="548640" y="365760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txBox="1"/>
          <p:nvPr/>
        </p:nvSpPr>
        <p:spPr>
          <a:xfrm>
            <a:off x="6309360" y="3291840"/>
            <a:ext cx="5349240" cy="365760"/>
          </a:xfrm>
          <a:prstGeom prst="rect">
            <a:avLst/>
          </a:prstGeom>
          <a:noFill/>
          <a:ln/>
        </p:spPr>
        <p:txBody>
          <a:bodyPr wrap="square" rtlCol="0" anchor="ctr"/>
          <a:lstStyle/>
          <a:p>
            <a:pPr marL="0" indent="0">
              <a:buNone/>
            </a:pPr>
            <a:r>
              <a:rPr lang="en-US" sz="1600" b="1" dirty="0">
                <a:solidFill>
                  <a:srgbClr val="3B2F2A"/>
                </a:solidFill>
                <a:latin typeface="Cambria" pitchFamily="34" charset="0"/>
                <a:ea typeface="Cambria" pitchFamily="34" charset="-122"/>
                <a:cs typeface="Cambria" pitchFamily="34" charset="-120"/>
              </a:rPr>
              <a:t>Lectura ejecutiva</a:t>
            </a:r>
            <a:endParaRPr lang="en-US" sz="1600" dirty="0"/>
          </a:p>
        </p:txBody>
      </p:sp>
      <p:sp>
        <p:nvSpPr>
          <p:cNvPr id="18" name="Text 15"/>
          <p:cNvSpPr txBox="1"/>
          <p:nvPr/>
        </p:nvSpPr>
        <p:spPr>
          <a:xfrm>
            <a:off x="6309360" y="3749040"/>
            <a:ext cx="5349240" cy="2743200"/>
          </a:xfrm>
          <a:prstGeom prst="rect">
            <a:avLst/>
          </a:prstGeom>
          <a:noFill/>
          <a:ln/>
        </p:spPr>
        <p:txBody>
          <a:bodyPr wrap="square" rtlCol="0" anchor="ctr"/>
          <a:lstStyle/>
          <a:p>
            <a:pPr marL="342900" indent="-342900">
              <a:spcAft>
                <a:spcPts val="1000"/>
              </a:spcAft>
              <a:buSzPct val="100000"/>
              <a:buChar char="•"/>
            </a:pPr>
            <a:r>
              <a:rPr lang="en-US" sz="1300" dirty="0">
                <a:solidFill>
                  <a:srgbClr val="2B2320"/>
                </a:solidFill>
                <a:latin typeface="Calibri" pitchFamily="34" charset="0"/>
                <a:ea typeface="Calibri" pitchFamily="34" charset="-122"/>
                <a:cs typeface="Calibri" pitchFamily="34" charset="-120"/>
              </a:rPr>
              <a:t>El 49% de las operaciones ya fueron entregadas y el 36% está embarcado; ambos estados suman el 85% del total en curso normal.</a:t>
            </a:r>
            <a:endParaRPr lang="en-US" sz="1300" dirty="0"/>
          </a:p>
          <a:p>
            <a:pPr marL="342900" indent="-342900">
              <a:spcAft>
                <a:spcPts val="1000"/>
              </a:spcAft>
              <a:buSzPct val="100000"/>
              <a:buChar char="•"/>
            </a:pPr>
            <a:r>
              <a:rPr lang="en-US" sz="1300" dirty="0">
                <a:solidFill>
                  <a:srgbClr val="2B2320"/>
                </a:solidFill>
                <a:latin typeface="Calibri" pitchFamily="34" charset="0"/>
                <a:ea typeface="Calibri" pitchFamily="34" charset="-122"/>
                <a:cs typeface="Calibri" pitchFamily="34" charset="-120"/>
              </a:rPr>
              <a:t>El 15% (15 operaciones) permanece pendiente y requiere seguimiento directo para no perder ventanas de entrega.</a:t>
            </a:r>
            <a:endParaRPr lang="en-US" sz="1300" dirty="0"/>
          </a:p>
          <a:p>
            <a:pPr marL="342900" indent="-342900">
              <a:spcAft>
                <a:spcPts val="1000"/>
              </a:spcAft>
              <a:buSzPct val="100000"/>
              <a:buChar char="•"/>
            </a:pPr>
            <a:r>
              <a:rPr lang="en-US" sz="1300" dirty="0">
                <a:solidFill>
                  <a:srgbClr val="2B2320"/>
                </a:solidFill>
                <a:latin typeface="Calibri" pitchFamily="34" charset="0"/>
                <a:ea typeface="Calibri" pitchFamily="34" charset="-122"/>
                <a:cs typeface="Calibri" pitchFamily="34" charset="-120"/>
              </a:rPr>
              <a:t>82 de 100 operaciones (82%) alcanzan rentabilidad alta (margen ≥30%), lo que confirma una cartera de exportación saludable.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Principales Mercados</a:t>
            </a:r>
            <a:endParaRPr lang="en-US" sz="3200" dirty="0"/>
          </a:p>
        </p:txBody>
      </p:sp>
      <p:sp>
        <p:nvSpPr>
          <p:cNvPr id="3" name="Text 1"/>
          <p:cNvSpPr txBox="1"/>
          <p:nvPr/>
        </p:nvSpPr>
        <p:spPr>
          <a:xfrm>
            <a:off x="548640" y="1280160"/>
            <a:ext cx="548640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Valor FOB por País (US$)</a:t>
            </a:r>
            <a:endParaRPr lang="en-US" sz="1500" dirty="0"/>
          </a:p>
        </p:txBody>
      </p:sp>
      <p:graphicFrame>
        <p:nvGraphicFramePr>
          <p:cNvPr id="4" name="Chart 0"/>
          <p:cNvGraphicFramePr/>
          <p:nvPr/>
        </p:nvGraphicFramePr>
        <p:xfrm>
          <a:off x="548640" y="164592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309360" y="1280160"/>
            <a:ext cx="534924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Valor FOB por Región (US$)</a:t>
            </a:r>
            <a:endParaRPr lang="en-US" sz="1500" dirty="0"/>
          </a:p>
        </p:txBody>
      </p:sp>
      <p:graphicFrame>
        <p:nvGraphicFramePr>
          <p:cNvPr id="6" name="Chart 1"/>
          <p:cNvGraphicFramePr/>
          <p:nvPr/>
        </p:nvGraphicFramePr>
        <p:xfrm>
          <a:off x="6309360" y="1645920"/>
          <a:ext cx="53492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 y="5029200"/>
            <a:ext cx="11064240" cy="1280160"/>
          </a:xfrm>
          <a:prstGeom prst="rect">
            <a:avLst/>
          </a:prstGeom>
          <a:solidFill>
            <a:srgbClr val="E7E8D1"/>
          </a:solidFill>
          <a:ln/>
        </p:spPr>
      </p:sp>
      <p:sp>
        <p:nvSpPr>
          <p:cNvPr id="8" name="Text 4"/>
          <p:cNvSpPr txBox="1"/>
          <p:nvPr/>
        </p:nvSpPr>
        <p:spPr>
          <a:xfrm>
            <a:off x="822960" y="5120640"/>
            <a:ext cx="10515600" cy="1097280"/>
          </a:xfrm>
          <a:prstGeom prst="rect">
            <a:avLst/>
          </a:prstGeom>
          <a:noFill/>
          <a:ln/>
        </p:spPr>
        <p:txBody>
          <a:bodyPr wrap="square" rtlCol="0" anchor="ctr"/>
          <a:lstStyle/>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EE.UU. es el mercado líder con US$168,745 en valor FOB (25.6% del total), seguido por España (US$136,328).  </a:t>
            </a:r>
            <a:endParaRPr lang="en-US" sz="1300" dirty="0"/>
          </a:p>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Norteamérica concentra el 43.9% del valor FOB total (US$289,058); El Salvador no registró operaciones en el periodo, pese a figurar como mercado potencial.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Productos Más Importantes</a:t>
            </a:r>
            <a:endParaRPr lang="en-US" sz="3200" dirty="0"/>
          </a:p>
        </p:txBody>
      </p:sp>
      <p:sp>
        <p:nvSpPr>
          <p:cNvPr id="3" name="Text 1"/>
          <p:cNvSpPr txBox="1"/>
          <p:nvPr/>
        </p:nvSpPr>
        <p:spPr>
          <a:xfrm>
            <a:off x="548640" y="1280160"/>
            <a:ext cx="548640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Utilidad por Producto (US$)</a:t>
            </a:r>
            <a:endParaRPr lang="en-US" sz="1500" dirty="0"/>
          </a:p>
        </p:txBody>
      </p:sp>
      <p:graphicFrame>
        <p:nvGraphicFramePr>
          <p:cNvPr id="4" name="Chart 0"/>
          <p:cNvGraphicFramePr/>
          <p:nvPr/>
        </p:nvGraphicFramePr>
        <p:xfrm>
          <a:off x="548640" y="164592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309360" y="1280160"/>
            <a:ext cx="534924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Unidades Exportadas por Producto</a:t>
            </a:r>
            <a:endParaRPr lang="en-US" sz="1500" dirty="0"/>
          </a:p>
        </p:txBody>
      </p:sp>
      <p:graphicFrame>
        <p:nvGraphicFramePr>
          <p:cNvPr id="6" name="Chart 1"/>
          <p:cNvGraphicFramePr/>
          <p:nvPr/>
        </p:nvGraphicFramePr>
        <p:xfrm>
          <a:off x="6309360" y="1645920"/>
          <a:ext cx="534924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 y="5120640"/>
            <a:ext cx="11064240" cy="1188720"/>
          </a:xfrm>
          <a:prstGeom prst="rect">
            <a:avLst/>
          </a:prstGeom>
          <a:solidFill>
            <a:srgbClr val="E7E8D1"/>
          </a:solidFill>
          <a:ln/>
        </p:spPr>
      </p:sp>
      <p:sp>
        <p:nvSpPr>
          <p:cNvPr id="8" name="Text 4"/>
          <p:cNvSpPr txBox="1"/>
          <p:nvPr/>
        </p:nvSpPr>
        <p:spPr>
          <a:xfrm>
            <a:off x="822960" y="5212080"/>
            <a:ext cx="10515600" cy="1005840"/>
          </a:xfrm>
          <a:prstGeom prst="rect">
            <a:avLst/>
          </a:prstGeom>
          <a:noFill/>
          <a:ln/>
        </p:spPr>
        <p:txBody>
          <a:bodyPr wrap="square" rtlCol="0" anchor="ctr"/>
          <a:lstStyle/>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El café especial lidera en ambas dimensiones: mayor utilidad (US$62,832) y mayor volumen exportado (26,180 kg).</a:t>
            </a:r>
            <a:endParaRPr lang="en-US" sz="1300" dirty="0"/>
          </a:p>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El aceite de ajonjolí genera la segunda mayor utilidad (US$42,218) con el menor volumen, señal de un alto margen unitario.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Rentabilidad y Operaciones Prioritarias</a:t>
            </a:r>
            <a:endParaRPr lang="en-US" sz="3200" dirty="0"/>
          </a:p>
        </p:txBody>
      </p:sp>
      <p:sp>
        <p:nvSpPr>
          <p:cNvPr id="3" name="Text 1"/>
          <p:cNvSpPr txBox="1"/>
          <p:nvPr/>
        </p:nvSpPr>
        <p:spPr>
          <a:xfrm>
            <a:off x="548640" y="1280160"/>
            <a:ext cx="548640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Operaciones por Prioridad Comercial</a:t>
            </a:r>
            <a:endParaRPr lang="en-US" sz="1500" dirty="0"/>
          </a:p>
        </p:txBody>
      </p:sp>
      <p:graphicFrame>
        <p:nvGraphicFramePr>
          <p:cNvPr id="4" name="Chart 0"/>
          <p:cNvGraphicFramePr/>
          <p:nvPr/>
        </p:nvGraphicFramePr>
        <p:xfrm>
          <a:off x="548640" y="164592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309360" y="1280160"/>
            <a:ext cx="5349240" cy="365760"/>
          </a:xfrm>
          <a:prstGeom prst="rect">
            <a:avLst/>
          </a:prstGeom>
          <a:noFill/>
          <a:ln/>
        </p:spPr>
        <p:txBody>
          <a:bodyPr wrap="square" rtlCol="0" anchor="ctr"/>
          <a:lstStyle/>
          <a:p>
            <a:pPr marL="0" indent="0">
              <a:buNone/>
            </a:pPr>
            <a:r>
              <a:rPr lang="en-US" sz="1500" b="1" dirty="0">
                <a:solidFill>
                  <a:srgbClr val="3B2F2A"/>
                </a:solidFill>
                <a:latin typeface="Cambria" pitchFamily="34" charset="0"/>
                <a:ea typeface="Cambria" pitchFamily="34" charset="-122"/>
                <a:cs typeface="Cambria" pitchFamily="34" charset="-120"/>
              </a:rPr>
              <a:t>Nivel de Rentabilidad de las Operaciones</a:t>
            </a:r>
            <a:endParaRPr lang="en-US" sz="1500" dirty="0"/>
          </a:p>
        </p:txBody>
      </p:sp>
      <p:graphicFrame>
        <p:nvGraphicFramePr>
          <p:cNvPr id="6" name="Chart 1"/>
          <p:cNvGraphicFramePr/>
          <p:nvPr/>
        </p:nvGraphicFramePr>
        <p:xfrm>
          <a:off x="6309360" y="1645920"/>
          <a:ext cx="53492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 y="5029200"/>
            <a:ext cx="11064240" cy="1280160"/>
          </a:xfrm>
          <a:prstGeom prst="rect">
            <a:avLst/>
          </a:prstGeom>
          <a:solidFill>
            <a:srgbClr val="E7E8D1"/>
          </a:solidFill>
          <a:ln/>
        </p:spPr>
      </p:sp>
      <p:sp>
        <p:nvSpPr>
          <p:cNvPr id="8" name="Text 4"/>
          <p:cNvSpPr txBox="1"/>
          <p:nvPr/>
        </p:nvSpPr>
        <p:spPr>
          <a:xfrm>
            <a:off x="822960" y="5120640"/>
            <a:ext cx="10515600" cy="1097280"/>
          </a:xfrm>
          <a:prstGeom prst="rect">
            <a:avLst/>
          </a:prstGeom>
          <a:noFill/>
          <a:ln/>
        </p:spPr>
        <p:txBody>
          <a:bodyPr wrap="square" rtlCol="0" anchor="ctr"/>
          <a:lstStyle/>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48 operaciones (48%) tienen prioridad comercial alta: combinan mercado estratégico con margen ≥30%.</a:t>
            </a:r>
            <a:endParaRPr lang="en-US" sz="1300" dirty="0"/>
          </a:p>
          <a:p>
            <a:pPr marL="342900" indent="-342900">
              <a:spcAft>
                <a:spcPts val="600"/>
              </a:spcAft>
              <a:buSzPct val="100000"/>
              <a:buChar char="•"/>
            </a:pPr>
            <a:r>
              <a:rPr lang="en-US" sz="1300" dirty="0">
                <a:solidFill>
                  <a:srgbClr val="2B2320"/>
                </a:solidFill>
                <a:latin typeface="Calibri" pitchFamily="34" charset="0"/>
                <a:ea typeface="Calibri" pitchFamily="34" charset="-122"/>
                <a:cs typeface="Calibri" pitchFamily="34" charset="-120"/>
              </a:rPr>
              <a:t>El margen promedio general es 32.5%; Norteamérica lidera con 33.0% de margen promedio, seguido de Centroamérica (32.3%) y Europa (32.0%).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B2F2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Principales Hallazgos</a:t>
            </a:r>
            <a:endParaRPr lang="en-US" sz="3200" dirty="0"/>
          </a:p>
        </p:txBody>
      </p:sp>
      <p:sp>
        <p:nvSpPr>
          <p:cNvPr id="3" name="Shape 1"/>
          <p:cNvSpPr/>
          <p:nvPr/>
        </p:nvSpPr>
        <p:spPr>
          <a:xfrm>
            <a:off x="548640" y="1371600"/>
            <a:ext cx="5349240" cy="1600200"/>
          </a:xfrm>
          <a:prstGeom prst="roundRect">
            <a:avLst>
              <a:gd name="adj" fmla="val 4571"/>
            </a:avLst>
          </a:prstGeom>
          <a:solidFill>
            <a:srgbClr val="463A34"/>
          </a:solidFill>
          <a:ln w="12700">
            <a:solidFill>
              <a:srgbClr val="463A34"/>
            </a:solidFill>
            <a:prstDash val="solid"/>
          </a:ln>
        </p:spPr>
      </p:sp>
      <p:sp>
        <p:nvSpPr>
          <p:cNvPr id="4" name="Text 2"/>
          <p:cNvSpPr txBox="1"/>
          <p:nvPr/>
        </p:nvSpPr>
        <p:spPr>
          <a:xfrm>
            <a:off x="731520" y="150876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01</a:t>
            </a:r>
            <a:endParaRPr lang="en-US" sz="2800" dirty="0"/>
          </a:p>
        </p:txBody>
      </p:sp>
      <p:sp>
        <p:nvSpPr>
          <p:cNvPr id="5" name="Text 3"/>
          <p:cNvSpPr txBox="1"/>
          <p:nvPr/>
        </p:nvSpPr>
        <p:spPr>
          <a:xfrm>
            <a:off x="1600200" y="150876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EE.UU. es el mercado líder</a:t>
            </a:r>
            <a:endParaRPr lang="en-US" sz="1400" dirty="0"/>
          </a:p>
        </p:txBody>
      </p:sp>
      <p:sp>
        <p:nvSpPr>
          <p:cNvPr id="6" name="Text 4"/>
          <p:cNvSpPr txBox="1"/>
          <p:nvPr/>
        </p:nvSpPr>
        <p:spPr>
          <a:xfrm>
            <a:off x="1600200" y="201168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US$168,745 en valor FOB, 25.6% del total exportado.</a:t>
            </a:r>
            <a:endParaRPr lang="en-US" sz="1150" dirty="0"/>
          </a:p>
        </p:txBody>
      </p:sp>
      <p:sp>
        <p:nvSpPr>
          <p:cNvPr id="7" name="Shape 5"/>
          <p:cNvSpPr/>
          <p:nvPr/>
        </p:nvSpPr>
        <p:spPr>
          <a:xfrm>
            <a:off x="6263640" y="1371600"/>
            <a:ext cx="5349240" cy="1600200"/>
          </a:xfrm>
          <a:prstGeom prst="roundRect">
            <a:avLst>
              <a:gd name="adj" fmla="val 4571"/>
            </a:avLst>
          </a:prstGeom>
          <a:solidFill>
            <a:srgbClr val="463A34"/>
          </a:solidFill>
          <a:ln w="12700">
            <a:solidFill>
              <a:srgbClr val="463A34"/>
            </a:solidFill>
            <a:prstDash val="solid"/>
          </a:ln>
        </p:spPr>
      </p:sp>
      <p:sp>
        <p:nvSpPr>
          <p:cNvPr id="8" name="Text 6"/>
          <p:cNvSpPr txBox="1"/>
          <p:nvPr/>
        </p:nvSpPr>
        <p:spPr>
          <a:xfrm>
            <a:off x="6446520" y="150876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02</a:t>
            </a:r>
            <a:endParaRPr lang="en-US" sz="2800" dirty="0"/>
          </a:p>
        </p:txBody>
      </p:sp>
      <p:sp>
        <p:nvSpPr>
          <p:cNvPr id="9" name="Text 7"/>
          <p:cNvSpPr txBox="1"/>
          <p:nvPr/>
        </p:nvSpPr>
        <p:spPr>
          <a:xfrm>
            <a:off x="7315200" y="150876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Café especial es el producto estrella</a:t>
            </a:r>
            <a:endParaRPr lang="en-US" sz="1400" dirty="0"/>
          </a:p>
        </p:txBody>
      </p:sp>
      <p:sp>
        <p:nvSpPr>
          <p:cNvPr id="10" name="Text 8"/>
          <p:cNvSpPr txBox="1"/>
          <p:nvPr/>
        </p:nvSpPr>
        <p:spPr>
          <a:xfrm>
            <a:off x="7315200" y="201168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Mayor utilidad (US$62,832) y mayor volumen (26,180 kg).</a:t>
            </a:r>
            <a:endParaRPr lang="en-US" sz="1150" dirty="0"/>
          </a:p>
        </p:txBody>
      </p:sp>
      <p:sp>
        <p:nvSpPr>
          <p:cNvPr id="11" name="Shape 9"/>
          <p:cNvSpPr/>
          <p:nvPr/>
        </p:nvSpPr>
        <p:spPr>
          <a:xfrm>
            <a:off x="548640" y="3246120"/>
            <a:ext cx="5349240" cy="1600200"/>
          </a:xfrm>
          <a:prstGeom prst="roundRect">
            <a:avLst>
              <a:gd name="adj" fmla="val 4571"/>
            </a:avLst>
          </a:prstGeom>
          <a:solidFill>
            <a:srgbClr val="463A34"/>
          </a:solidFill>
          <a:ln w="12700">
            <a:solidFill>
              <a:srgbClr val="463A34"/>
            </a:solidFill>
            <a:prstDash val="solid"/>
          </a:ln>
        </p:spPr>
      </p:sp>
      <p:sp>
        <p:nvSpPr>
          <p:cNvPr id="12" name="Text 10"/>
          <p:cNvSpPr txBox="1"/>
          <p:nvPr/>
        </p:nvSpPr>
        <p:spPr>
          <a:xfrm>
            <a:off x="731520" y="338328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03</a:t>
            </a:r>
            <a:endParaRPr lang="en-US" sz="2800" dirty="0"/>
          </a:p>
        </p:txBody>
      </p:sp>
      <p:sp>
        <p:nvSpPr>
          <p:cNvPr id="13" name="Text 11"/>
          <p:cNvSpPr txBox="1"/>
          <p:nvPr/>
        </p:nvSpPr>
        <p:spPr>
          <a:xfrm>
            <a:off x="1600200" y="338328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Norteamérica ofrece el mejor margen</a:t>
            </a:r>
            <a:endParaRPr lang="en-US" sz="1400" dirty="0"/>
          </a:p>
        </p:txBody>
      </p:sp>
      <p:sp>
        <p:nvSpPr>
          <p:cNvPr id="14" name="Text 12"/>
          <p:cNvSpPr txBox="1"/>
          <p:nvPr/>
        </p:nvSpPr>
        <p:spPr>
          <a:xfrm>
            <a:off x="1600200" y="388620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33.0% de margen promedio, el más alto entre las tres regiones.</a:t>
            </a:r>
            <a:endParaRPr lang="en-US" sz="1150" dirty="0"/>
          </a:p>
        </p:txBody>
      </p:sp>
      <p:sp>
        <p:nvSpPr>
          <p:cNvPr id="15" name="Shape 13"/>
          <p:cNvSpPr/>
          <p:nvPr/>
        </p:nvSpPr>
        <p:spPr>
          <a:xfrm>
            <a:off x="6263640" y="3246120"/>
            <a:ext cx="5349240" cy="1600200"/>
          </a:xfrm>
          <a:prstGeom prst="roundRect">
            <a:avLst>
              <a:gd name="adj" fmla="val 4571"/>
            </a:avLst>
          </a:prstGeom>
          <a:solidFill>
            <a:srgbClr val="463A34"/>
          </a:solidFill>
          <a:ln w="12700">
            <a:solidFill>
              <a:srgbClr val="463A34"/>
            </a:solidFill>
            <a:prstDash val="solid"/>
          </a:ln>
        </p:spPr>
      </p:sp>
      <p:sp>
        <p:nvSpPr>
          <p:cNvPr id="16" name="Text 14"/>
          <p:cNvSpPr txBox="1"/>
          <p:nvPr/>
        </p:nvSpPr>
        <p:spPr>
          <a:xfrm>
            <a:off x="6446520" y="338328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04</a:t>
            </a:r>
            <a:endParaRPr lang="en-US" sz="2800" dirty="0"/>
          </a:p>
        </p:txBody>
      </p:sp>
      <p:sp>
        <p:nvSpPr>
          <p:cNvPr id="17" name="Text 15"/>
          <p:cNvSpPr txBox="1"/>
          <p:nvPr/>
        </p:nvSpPr>
        <p:spPr>
          <a:xfrm>
            <a:off x="7315200" y="338328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15 operaciones pendientes</a:t>
            </a:r>
            <a:endParaRPr lang="en-US" sz="1400" dirty="0"/>
          </a:p>
        </p:txBody>
      </p:sp>
      <p:sp>
        <p:nvSpPr>
          <p:cNvPr id="18" name="Text 16"/>
          <p:cNvSpPr txBox="1"/>
          <p:nvPr/>
        </p:nvSpPr>
        <p:spPr>
          <a:xfrm>
            <a:off x="7315200" y="388620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Requieren seguimiento inmediato para no perder ventanas de entrega.</a:t>
            </a:r>
            <a:endParaRPr lang="en-US" sz="1150" dirty="0"/>
          </a:p>
        </p:txBody>
      </p:sp>
      <p:sp>
        <p:nvSpPr>
          <p:cNvPr id="19" name="Shape 17"/>
          <p:cNvSpPr/>
          <p:nvPr/>
        </p:nvSpPr>
        <p:spPr>
          <a:xfrm>
            <a:off x="548640" y="5120640"/>
            <a:ext cx="5349240" cy="1600200"/>
          </a:xfrm>
          <a:prstGeom prst="roundRect">
            <a:avLst>
              <a:gd name="adj" fmla="val 4571"/>
            </a:avLst>
          </a:prstGeom>
          <a:solidFill>
            <a:srgbClr val="463A34"/>
          </a:solidFill>
          <a:ln w="12700">
            <a:solidFill>
              <a:srgbClr val="463A34"/>
            </a:solidFill>
            <a:prstDash val="solid"/>
          </a:ln>
        </p:spPr>
      </p:sp>
      <p:sp>
        <p:nvSpPr>
          <p:cNvPr id="20" name="Text 18"/>
          <p:cNvSpPr txBox="1"/>
          <p:nvPr/>
        </p:nvSpPr>
        <p:spPr>
          <a:xfrm>
            <a:off x="731520" y="525780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05</a:t>
            </a:r>
            <a:endParaRPr lang="en-US" sz="2800" dirty="0"/>
          </a:p>
        </p:txBody>
      </p:sp>
      <p:sp>
        <p:nvSpPr>
          <p:cNvPr id="21" name="Text 19"/>
          <p:cNvSpPr txBox="1"/>
          <p:nvPr/>
        </p:nvSpPr>
        <p:spPr>
          <a:xfrm>
            <a:off x="1600200" y="525780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48% de las operaciones son prioridad alta</a:t>
            </a:r>
            <a:endParaRPr lang="en-US" sz="1400" dirty="0"/>
          </a:p>
        </p:txBody>
      </p:sp>
      <p:sp>
        <p:nvSpPr>
          <p:cNvPr id="22" name="Text 20"/>
          <p:cNvSpPr txBox="1"/>
          <p:nvPr/>
        </p:nvSpPr>
        <p:spPr>
          <a:xfrm>
            <a:off x="1600200" y="576072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Mercado estratégico + margen ≥30%: el segmento a defender y escalar.</a:t>
            </a:r>
            <a:endParaRPr lang="en-US" sz="1150" dirty="0"/>
          </a:p>
        </p:txBody>
      </p:sp>
      <p:sp>
        <p:nvSpPr>
          <p:cNvPr id="23" name="Shape 21"/>
          <p:cNvSpPr/>
          <p:nvPr/>
        </p:nvSpPr>
        <p:spPr>
          <a:xfrm>
            <a:off x="6263640" y="5120640"/>
            <a:ext cx="5349240" cy="1600200"/>
          </a:xfrm>
          <a:prstGeom prst="roundRect">
            <a:avLst>
              <a:gd name="adj" fmla="val 4571"/>
            </a:avLst>
          </a:prstGeom>
          <a:solidFill>
            <a:srgbClr val="463A34"/>
          </a:solidFill>
          <a:ln w="12700">
            <a:solidFill>
              <a:srgbClr val="463A34"/>
            </a:solidFill>
            <a:prstDash val="solid"/>
          </a:ln>
        </p:spPr>
      </p:sp>
      <p:sp>
        <p:nvSpPr>
          <p:cNvPr id="24" name="Text 22"/>
          <p:cNvSpPr txBox="1"/>
          <p:nvPr/>
        </p:nvSpPr>
        <p:spPr>
          <a:xfrm>
            <a:off x="6446520" y="5257800"/>
            <a:ext cx="914400" cy="731520"/>
          </a:xfrm>
          <a:prstGeom prst="rect">
            <a:avLst/>
          </a:prstGeom>
          <a:noFill/>
          <a:ln/>
        </p:spPr>
        <p:txBody>
          <a:bodyPr wrap="square" rtlCol="0" anchor="ctr"/>
          <a:lstStyle/>
          <a:p>
            <a:pPr marL="0" indent="0">
              <a:buNone/>
            </a:pPr>
            <a:r>
              <a:rPr lang="en-US" sz="2800" b="1" dirty="0">
                <a:solidFill>
                  <a:srgbClr val="B85042"/>
                </a:solidFill>
                <a:latin typeface="Cambria" pitchFamily="34" charset="0"/>
                <a:ea typeface="Cambria" pitchFamily="34" charset="-122"/>
                <a:cs typeface="Cambria" pitchFamily="34" charset="-120"/>
              </a:rPr>
              <a:t>06</a:t>
            </a:r>
            <a:endParaRPr lang="en-US" sz="2800" dirty="0"/>
          </a:p>
        </p:txBody>
      </p:sp>
      <p:sp>
        <p:nvSpPr>
          <p:cNvPr id="25" name="Text 23"/>
          <p:cNvSpPr txBox="1"/>
          <p:nvPr/>
        </p:nvSpPr>
        <p:spPr>
          <a:xfrm>
            <a:off x="7315200" y="5257800"/>
            <a:ext cx="41148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Salvador, oportunidad sin explotar</a:t>
            </a:r>
            <a:endParaRPr lang="en-US" sz="1400" dirty="0"/>
          </a:p>
        </p:txBody>
      </p:sp>
      <p:sp>
        <p:nvSpPr>
          <p:cNvPr id="26" name="Text 24"/>
          <p:cNvSpPr txBox="1"/>
          <p:nvPr/>
        </p:nvSpPr>
        <p:spPr>
          <a:xfrm>
            <a:off x="7315200" y="5760720"/>
            <a:ext cx="4114800" cy="822960"/>
          </a:xfrm>
          <a:prstGeom prst="rect">
            <a:avLst/>
          </a:prstGeom>
          <a:noFill/>
          <a:ln/>
        </p:spPr>
        <p:txBody>
          <a:bodyPr wrap="square" rtlCol="0" anchor="ctr"/>
          <a:lstStyle/>
          <a:p>
            <a:pPr marL="0" indent="0">
              <a:buNone/>
            </a:pPr>
            <a:r>
              <a:rPr lang="en-US" sz="1150" dirty="0">
                <a:solidFill>
                  <a:srgbClr val="E7E8D1"/>
                </a:solidFill>
                <a:latin typeface="Calibri" pitchFamily="34" charset="0"/>
                <a:ea typeface="Calibri" pitchFamily="34" charset="-122"/>
                <a:cs typeface="Calibri" pitchFamily="34" charset="-120"/>
              </a:rPr>
              <a:t>Clasificado como mercado potencial pero sin operaciones registradas.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rtlCol="0" anchor="ctr"/>
          <a:lstStyle/>
          <a:p>
            <a:pPr marL="0" indent="0">
              <a:buNone/>
            </a:pPr>
            <a:r>
              <a:rPr lang="en-US" sz="3200" b="1" dirty="0">
                <a:solidFill>
                  <a:srgbClr val="3B2F2A"/>
                </a:solidFill>
                <a:latin typeface="Cambria" pitchFamily="34" charset="0"/>
                <a:ea typeface="Cambria" pitchFamily="34" charset="-122"/>
                <a:cs typeface="Cambria" pitchFamily="34" charset="-120"/>
              </a:rPr>
              <a:t>Conclusiones y Recomendaciones</a:t>
            </a:r>
            <a:endParaRPr lang="en-US" sz="3200" dirty="0"/>
          </a:p>
        </p:txBody>
      </p:sp>
      <p:sp>
        <p:nvSpPr>
          <p:cNvPr id="3" name="Text 1"/>
          <p:cNvSpPr txBox="1"/>
          <p:nvPr/>
        </p:nvSpPr>
        <p:spPr>
          <a:xfrm>
            <a:off x="548640" y="1188720"/>
            <a:ext cx="11064240" cy="365760"/>
          </a:xfrm>
          <a:prstGeom prst="rect">
            <a:avLst/>
          </a:prstGeom>
          <a:noFill/>
          <a:ln/>
        </p:spPr>
        <p:txBody>
          <a:bodyPr wrap="square" rtlCol="0" anchor="ctr"/>
          <a:lstStyle/>
          <a:p>
            <a:pPr marL="0" indent="0">
              <a:buNone/>
            </a:pPr>
            <a:r>
              <a:rPr lang="en-US" sz="1800" b="1" dirty="0">
                <a:solidFill>
                  <a:srgbClr val="B85042"/>
                </a:solidFill>
                <a:latin typeface="Cambria" pitchFamily="34" charset="0"/>
                <a:ea typeface="Cambria" pitchFamily="34" charset="-122"/>
                <a:cs typeface="Cambria" pitchFamily="34" charset="-120"/>
              </a:rPr>
              <a:t>Conclusiones</a:t>
            </a:r>
            <a:endParaRPr lang="en-US" sz="1800" dirty="0"/>
          </a:p>
        </p:txBody>
      </p:sp>
      <p:sp>
        <p:nvSpPr>
          <p:cNvPr id="4" name="Text 2"/>
          <p:cNvSpPr txBox="1"/>
          <p:nvPr/>
        </p:nvSpPr>
        <p:spPr>
          <a:xfrm>
            <a:off x="548640" y="1600200"/>
            <a:ext cx="11064240" cy="1737360"/>
          </a:xfrm>
          <a:prstGeom prst="rect">
            <a:avLst/>
          </a:prstGeom>
          <a:noFill/>
          <a:ln/>
        </p:spPr>
        <p:txBody>
          <a:bodyPr wrap="square" rtlCol="0" anchor="ctr"/>
          <a:lstStyle/>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La operación de NicaExport Trading es rentable y saludable: 82% de las operaciones logra rentabilidad alta y el margen promedio general es 32.5%.</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El café especial y el mercado de EE.UU. concentran el mayor peso económico del negocio, seguidos por España y la región Norteamérica en su conjunto.</a:t>
            </a:r>
            <a:endParaRPr lang="en-US" sz="1350" dirty="0"/>
          </a:p>
          <a:p>
            <a:pPr marL="342900" indent="-342900">
              <a:spcAft>
                <a:spcPts val="800"/>
              </a:spcAft>
              <a:buSzPct val="100000"/>
              <a:buChar char="•"/>
            </a:pPr>
            <a:r>
              <a:rPr lang="en-US" sz="1350" dirty="0">
                <a:solidFill>
                  <a:srgbClr val="2B2320"/>
                </a:solidFill>
                <a:latin typeface="Calibri" pitchFamily="34" charset="0"/>
                <a:ea typeface="Calibri" pitchFamily="34" charset="-122"/>
                <a:cs typeface="Calibri" pitchFamily="34" charset="-120"/>
              </a:rPr>
              <a:t>Existen 15 operaciones pendientes (15%) que representan riesgo de entrega y deben gestionarse de forma prioritaria.</a:t>
            </a:r>
            <a:endParaRPr lang="en-US" sz="1350" dirty="0"/>
          </a:p>
        </p:txBody>
      </p:sp>
      <p:sp>
        <p:nvSpPr>
          <p:cNvPr id="5" name="Text 3"/>
          <p:cNvSpPr txBox="1"/>
          <p:nvPr/>
        </p:nvSpPr>
        <p:spPr>
          <a:xfrm>
            <a:off x="548640" y="3429000"/>
            <a:ext cx="11064240" cy="365760"/>
          </a:xfrm>
          <a:prstGeom prst="rect">
            <a:avLst/>
          </a:prstGeom>
          <a:noFill/>
          <a:ln/>
        </p:spPr>
        <p:txBody>
          <a:bodyPr wrap="square" rtlCol="0" anchor="ctr"/>
          <a:lstStyle/>
          <a:p>
            <a:pPr marL="0" indent="0">
              <a:buNone/>
            </a:pPr>
            <a:r>
              <a:rPr lang="en-US" sz="1800" b="1" dirty="0">
                <a:solidFill>
                  <a:srgbClr val="B85042"/>
                </a:solidFill>
                <a:latin typeface="Cambria" pitchFamily="34" charset="0"/>
                <a:ea typeface="Cambria" pitchFamily="34" charset="-122"/>
                <a:cs typeface="Cambria" pitchFamily="34" charset="-120"/>
              </a:rPr>
              <a:t>Recomendaciones Empresariales</a:t>
            </a:r>
            <a:endParaRPr lang="en-US" sz="1800" dirty="0"/>
          </a:p>
        </p:txBody>
      </p:sp>
      <p:sp>
        <p:nvSpPr>
          <p:cNvPr id="6" name="Shape 4"/>
          <p:cNvSpPr/>
          <p:nvPr/>
        </p:nvSpPr>
        <p:spPr>
          <a:xfrm>
            <a:off x="548640" y="3840480"/>
            <a:ext cx="11064240" cy="868680"/>
          </a:xfrm>
          <a:prstGeom prst="roundRect">
            <a:avLst>
              <a:gd name="adj" fmla="val 6316"/>
            </a:avLst>
          </a:prstGeom>
          <a:solidFill>
            <a:srgbClr val="E7E8D1"/>
          </a:solidFill>
          <a:ln w="12700">
            <a:solidFill>
              <a:srgbClr val="E7E8D1"/>
            </a:solidFill>
            <a:prstDash val="solid"/>
          </a:ln>
        </p:spPr>
      </p:sp>
      <p:sp>
        <p:nvSpPr>
          <p:cNvPr id="7" name="Text 5"/>
          <p:cNvSpPr txBox="1"/>
          <p:nvPr/>
        </p:nvSpPr>
        <p:spPr>
          <a:xfrm>
            <a:off x="731520" y="3950208"/>
            <a:ext cx="548640" cy="640080"/>
          </a:xfrm>
          <a:prstGeom prst="rect">
            <a:avLst/>
          </a:prstGeom>
          <a:noFill/>
          <a:ln/>
        </p:spPr>
        <p:txBody>
          <a:bodyPr wrap="square"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1371600" y="3913632"/>
            <a:ext cx="9966960" cy="365760"/>
          </a:xfrm>
          <a:prstGeom prst="rect">
            <a:avLst/>
          </a:prstGeom>
          <a:noFill/>
          <a:ln/>
        </p:spPr>
        <p:txBody>
          <a:bodyPr wrap="square" rtlCol="0" anchor="ctr"/>
          <a:lstStyle/>
          <a:p>
            <a:pPr marL="0" indent="0">
              <a:buNone/>
            </a:pPr>
            <a:r>
              <a:rPr lang="en-US" sz="1350" b="1" dirty="0">
                <a:solidFill>
                  <a:srgbClr val="3B2F2A"/>
                </a:solidFill>
                <a:latin typeface="Calibri" pitchFamily="34" charset="0"/>
                <a:ea typeface="Calibri" pitchFamily="34" charset="-122"/>
                <a:cs typeface="Calibri" pitchFamily="34" charset="-120"/>
              </a:rPr>
              <a:t>Incrementar la promoción del café especial en EE.UU.</a:t>
            </a:r>
            <a:endParaRPr lang="en-US" sz="1350" dirty="0"/>
          </a:p>
        </p:txBody>
      </p:sp>
      <p:sp>
        <p:nvSpPr>
          <p:cNvPr id="9" name="Text 7"/>
          <p:cNvSpPr txBox="1"/>
          <p:nvPr/>
        </p:nvSpPr>
        <p:spPr>
          <a:xfrm>
            <a:off x="1371600" y="4251960"/>
            <a:ext cx="9966960" cy="411480"/>
          </a:xfrm>
          <a:prstGeom prst="rect">
            <a:avLst/>
          </a:prstGeom>
          <a:noFill/>
          <a:ln/>
        </p:spPr>
        <p:txBody>
          <a:bodyPr wrap="square" rtlCol="0" anchor="ctr"/>
          <a:lstStyle/>
          <a:p>
            <a:pPr marL="0" indent="0">
              <a:buNone/>
            </a:pPr>
            <a:r>
              <a:rPr lang="en-US" sz="1100" dirty="0">
                <a:solidFill>
                  <a:srgbClr val="2B2320"/>
                </a:solidFill>
                <a:latin typeface="Calibri" pitchFamily="34" charset="0"/>
                <a:ea typeface="Calibri" pitchFamily="34" charset="-122"/>
                <a:cs typeface="Calibri" pitchFamily="34" charset="-120"/>
              </a:rPr>
              <a:t>Este producto genera la mayor utilidad (US$62,832) y EE.UU. es el mercado de mayor valor FOB (US$168,745); concentrar esfuerzo comercial ahí maximiza el retorno con menor riesgo.</a:t>
            </a:r>
            <a:endParaRPr lang="en-US" sz="1100" dirty="0"/>
          </a:p>
        </p:txBody>
      </p:sp>
      <p:sp>
        <p:nvSpPr>
          <p:cNvPr id="10" name="Shape 8"/>
          <p:cNvSpPr/>
          <p:nvPr/>
        </p:nvSpPr>
        <p:spPr>
          <a:xfrm>
            <a:off x="548640" y="4828032"/>
            <a:ext cx="11064240" cy="868680"/>
          </a:xfrm>
          <a:prstGeom prst="roundRect">
            <a:avLst>
              <a:gd name="adj" fmla="val 6316"/>
            </a:avLst>
          </a:prstGeom>
          <a:solidFill>
            <a:srgbClr val="E7E8D1"/>
          </a:solidFill>
          <a:ln w="12700">
            <a:solidFill>
              <a:srgbClr val="E7E8D1"/>
            </a:solidFill>
            <a:prstDash val="solid"/>
          </a:ln>
        </p:spPr>
      </p:sp>
      <p:sp>
        <p:nvSpPr>
          <p:cNvPr id="11" name="Text 9"/>
          <p:cNvSpPr txBox="1"/>
          <p:nvPr/>
        </p:nvSpPr>
        <p:spPr>
          <a:xfrm>
            <a:off x="731520" y="4937760"/>
            <a:ext cx="548640" cy="640080"/>
          </a:xfrm>
          <a:prstGeom prst="rect">
            <a:avLst/>
          </a:prstGeom>
          <a:noFill/>
          <a:ln/>
        </p:spPr>
        <p:txBody>
          <a:bodyPr wrap="square"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1371600" y="4901184"/>
            <a:ext cx="9966960" cy="365760"/>
          </a:xfrm>
          <a:prstGeom prst="rect">
            <a:avLst/>
          </a:prstGeom>
          <a:noFill/>
          <a:ln/>
        </p:spPr>
        <p:txBody>
          <a:bodyPr wrap="square" rtlCol="0" anchor="ctr"/>
          <a:lstStyle/>
          <a:p>
            <a:pPr marL="0" indent="0">
              <a:buNone/>
            </a:pPr>
            <a:r>
              <a:rPr lang="en-US" sz="1350" b="1" dirty="0">
                <a:solidFill>
                  <a:srgbClr val="3B2F2A"/>
                </a:solidFill>
                <a:latin typeface="Calibri" pitchFamily="34" charset="0"/>
                <a:ea typeface="Calibri" pitchFamily="34" charset="-122"/>
                <a:cs typeface="Calibri" pitchFamily="34" charset="-120"/>
              </a:rPr>
              <a:t>Dar seguimiento inmediato a las 15 operaciones pendientes</a:t>
            </a:r>
            <a:endParaRPr lang="en-US" sz="1350" dirty="0"/>
          </a:p>
        </p:txBody>
      </p:sp>
      <p:sp>
        <p:nvSpPr>
          <p:cNvPr id="13" name="Text 11"/>
          <p:cNvSpPr txBox="1"/>
          <p:nvPr/>
        </p:nvSpPr>
        <p:spPr>
          <a:xfrm>
            <a:off x="1371600" y="5239512"/>
            <a:ext cx="9966960" cy="411480"/>
          </a:xfrm>
          <a:prstGeom prst="rect">
            <a:avLst/>
          </a:prstGeom>
          <a:noFill/>
          <a:ln/>
        </p:spPr>
        <p:txBody>
          <a:bodyPr wrap="square" rtlCol="0" anchor="ctr"/>
          <a:lstStyle/>
          <a:p>
            <a:pPr marL="0" indent="0">
              <a:buNone/>
            </a:pPr>
            <a:r>
              <a:rPr lang="en-US" sz="1100" dirty="0">
                <a:solidFill>
                  <a:srgbClr val="2B2320"/>
                </a:solidFill>
                <a:latin typeface="Calibri" pitchFamily="34" charset="0"/>
                <a:ea typeface="Calibri" pitchFamily="34" charset="-122"/>
                <a:cs typeface="Calibri" pitchFamily="34" charset="-120"/>
              </a:rPr>
              <a:t>Representan el 15% del total y, de completarse, sumarían valor FOB adicional ya comprometido con clientes como Iberia Foods y Global Foods.</a:t>
            </a:r>
            <a:endParaRPr lang="en-US" sz="1100" dirty="0"/>
          </a:p>
        </p:txBody>
      </p:sp>
      <p:sp>
        <p:nvSpPr>
          <p:cNvPr id="14" name="Shape 12"/>
          <p:cNvSpPr/>
          <p:nvPr/>
        </p:nvSpPr>
        <p:spPr>
          <a:xfrm>
            <a:off x="548640" y="5815584"/>
            <a:ext cx="11064240" cy="868680"/>
          </a:xfrm>
          <a:prstGeom prst="roundRect">
            <a:avLst>
              <a:gd name="adj" fmla="val 6316"/>
            </a:avLst>
          </a:prstGeom>
          <a:solidFill>
            <a:srgbClr val="E7E8D1"/>
          </a:solidFill>
          <a:ln w="12700">
            <a:solidFill>
              <a:srgbClr val="E7E8D1"/>
            </a:solidFill>
            <a:prstDash val="solid"/>
          </a:ln>
        </p:spPr>
      </p:sp>
      <p:sp>
        <p:nvSpPr>
          <p:cNvPr id="15" name="Text 13"/>
          <p:cNvSpPr txBox="1"/>
          <p:nvPr/>
        </p:nvSpPr>
        <p:spPr>
          <a:xfrm>
            <a:off x="731520" y="5925312"/>
            <a:ext cx="548640" cy="640080"/>
          </a:xfrm>
          <a:prstGeom prst="rect">
            <a:avLst/>
          </a:prstGeom>
          <a:noFill/>
          <a:ln/>
        </p:spPr>
        <p:txBody>
          <a:bodyPr wrap="square"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3</a:t>
            </a:r>
            <a:endParaRPr lang="en-US" sz="2600" dirty="0"/>
          </a:p>
        </p:txBody>
      </p:sp>
      <p:sp>
        <p:nvSpPr>
          <p:cNvPr id="16" name="Text 14"/>
          <p:cNvSpPr txBox="1"/>
          <p:nvPr/>
        </p:nvSpPr>
        <p:spPr>
          <a:xfrm>
            <a:off x="1371600" y="5888736"/>
            <a:ext cx="9966960" cy="365760"/>
          </a:xfrm>
          <a:prstGeom prst="rect">
            <a:avLst/>
          </a:prstGeom>
          <a:noFill/>
          <a:ln/>
        </p:spPr>
        <p:txBody>
          <a:bodyPr wrap="square" rtlCol="0" anchor="ctr"/>
          <a:lstStyle/>
          <a:p>
            <a:pPr marL="0" indent="0">
              <a:buNone/>
            </a:pPr>
            <a:r>
              <a:rPr lang="en-US" sz="1350" b="1" dirty="0">
                <a:solidFill>
                  <a:srgbClr val="3B2F2A"/>
                </a:solidFill>
                <a:latin typeface="Calibri" pitchFamily="34" charset="0"/>
                <a:ea typeface="Calibri" pitchFamily="34" charset="-122"/>
                <a:cs typeface="Calibri" pitchFamily="34" charset="-120"/>
              </a:rPr>
              <a:t>Desarrollar activamente el mercado de El Salvador</a:t>
            </a:r>
            <a:endParaRPr lang="en-US" sz="1350" dirty="0"/>
          </a:p>
        </p:txBody>
      </p:sp>
      <p:sp>
        <p:nvSpPr>
          <p:cNvPr id="17" name="Text 15"/>
          <p:cNvSpPr txBox="1"/>
          <p:nvPr/>
        </p:nvSpPr>
        <p:spPr>
          <a:xfrm>
            <a:off x="1371600" y="6227064"/>
            <a:ext cx="9966960" cy="411480"/>
          </a:xfrm>
          <a:prstGeom prst="rect">
            <a:avLst/>
          </a:prstGeom>
          <a:noFill/>
          <a:ln/>
        </p:spPr>
        <p:txBody>
          <a:bodyPr wrap="square" rtlCol="0" anchor="ctr"/>
          <a:lstStyle/>
          <a:p>
            <a:pPr marL="0" indent="0">
              <a:buNone/>
            </a:pPr>
            <a:r>
              <a:rPr lang="en-US" sz="1100" dirty="0">
                <a:solidFill>
                  <a:srgbClr val="2B2320"/>
                </a:solidFill>
                <a:latin typeface="Calibri" pitchFamily="34" charset="0"/>
                <a:ea typeface="Calibri" pitchFamily="34" charset="-122"/>
                <a:cs typeface="Calibri" pitchFamily="34" charset="-120"/>
              </a:rPr>
              <a:t>Está clasificado como mercado potencial pero registró cero operaciones en el semestre; representa una oportunidad de expansión de bajo arancel (2%) sin explotar.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1243</Words>
  <Application>Microsoft Office PowerPoint</Application>
  <PresentationFormat>Panorámica</PresentationFormat>
  <Paragraphs>105</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Guest 1</cp:lastModifiedBy>
  <cp:revision>2</cp:revision>
  <dcterms:created xsi:type="dcterms:W3CDTF">2026-09-03T19:56:47Z</dcterms:created>
  <dcterms:modified xsi:type="dcterms:W3CDTF">2026-09-10T01:27:08Z</dcterms:modified>
</cp:coreProperties>
</file>